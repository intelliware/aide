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56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7834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078706"/>
            <a:ext cx="2012826" cy="266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452029" y="1047750"/>
            <a:ext cx="2962268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v1.5.1 · MAY 2026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143000" y="3557588"/>
            <a:ext cx="176022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FFFFFF">
                    <a:alpha val="6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SKILLS-BASED SDLC FOR AI CODING AGENTS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43000" y="4267200"/>
            <a:ext cx="17602200" cy="179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5000" kern="0" spc="-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r>
              <a:rPr lang="en-US" sz="15000" kern="0" spc="-600" dirty="0">
                <a:solidFill>
                  <a:srgbClr val="334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r>
              <a:rPr lang="en-US" sz="15000" kern="0" spc="-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r>
              <a:rPr lang="en-US" sz="15000" kern="0" spc="-600" dirty="0">
                <a:solidFill>
                  <a:srgbClr val="334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r>
              <a:rPr lang="en-US" sz="15000" kern="0" spc="-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r>
              <a:rPr lang="en-US" sz="15000" kern="0" spc="-600" dirty="0">
                <a:solidFill>
                  <a:srgbClr val="334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r>
              <a:rPr lang="en-US" sz="15000" kern="0" spc="-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r>
              <a:rPr lang="en-US" sz="15000" kern="0" spc="-600" dirty="0">
                <a:solidFill>
                  <a:srgbClr val="334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0" dirty="0"/>
          </a:p>
        </p:txBody>
      </p:sp>
      <p:sp>
        <p:nvSpPr>
          <p:cNvPr id="6" name="Text 3"/>
          <p:cNvSpPr/>
          <p:nvPr/>
        </p:nvSpPr>
        <p:spPr>
          <a:xfrm>
            <a:off x="1143000" y="6324600"/>
            <a:ext cx="17602200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kern="0" spc="90" dirty="0">
                <a:solidFill>
                  <a:srgbClr val="FFFFF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</a:t>
            </a:r>
            <a:r>
              <a:rPr lang="en-US" sz="2250" kern="0" spc="90" dirty="0">
                <a:solidFill>
                  <a:srgbClr val="334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</a:t>
            </a:r>
            <a:r>
              <a:rPr lang="en-US" sz="2250" kern="0" spc="90" dirty="0">
                <a:solidFill>
                  <a:srgbClr val="FFFFF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Integrated </a:t>
            </a:r>
            <a:r>
              <a:rPr lang="en-US" sz="2250" kern="0" spc="90" dirty="0">
                <a:solidFill>
                  <a:srgbClr val="334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</a:t>
            </a:r>
            <a:r>
              <a:rPr lang="en-US" sz="2250" kern="0" spc="90" dirty="0">
                <a:solidFill>
                  <a:srgbClr val="FFFFF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Delivery </a:t>
            </a:r>
            <a:r>
              <a:rPr lang="en-US" sz="2250" kern="0" spc="90" dirty="0">
                <a:solidFill>
                  <a:srgbClr val="334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</a:t>
            </a:r>
            <a:r>
              <a:rPr lang="en-US" sz="2250" kern="0" spc="90" dirty="0">
                <a:solidFill>
                  <a:srgbClr val="FFFFF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Enablement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1143000" y="8910638"/>
            <a:ext cx="4365352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 overview of the framework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759133" y="8910638"/>
            <a:ext cx="592445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 skills · 3 flows · 1 knowledge base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143000" y="10229850"/>
            <a:ext cx="16002000" cy="57150"/>
          </a:xfrm>
          <a:prstGeom prst="rect">
            <a:avLst/>
          </a:prstGeom>
          <a:gradFill rotWithShape="1">
            <a:gsLst>
              <a:gs pos="0">
                <a:srgbClr val="C89FFD">
                  <a:alpha val="100000"/>
                </a:srgbClr>
              </a:gs>
              <a:gs pos="100000">
                <a:srgbClr val="3348FF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983456"/>
            <a:ext cx="2012826" cy="266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125873" y="952500"/>
            <a:ext cx="106836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20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5422835" y="952500"/>
            <a:ext cx="21795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34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5869394" y="952500"/>
            <a:ext cx="1403166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Pitch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143000" y="1814513"/>
            <a:ext cx="176022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A.I.D.E. IN ONE PARAGRAPH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143000" y="3520306"/>
            <a:ext cx="14716125" cy="1446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3300" kern="0" spc="-40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A.I.D.E. is a </a:t>
            </a:r>
            <a:r>
              <a:rPr lang="en-US" sz="3300" kern="0" spc="-40" dirty="0">
                <a:solidFill>
                  <a:srgbClr val="334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skills-based SDLC methodology framework </a:t>
            </a:r>
            <a:r>
              <a:rPr lang="en-US" sz="3300" kern="0" spc="-40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conforms to the </a:t>
            </a:r>
            <a:r>
              <a:rPr lang="en-US" sz="3300" kern="0" spc="-40" dirty="0">
                <a:solidFill>
                  <a:srgbClr val="19131F"/>
                </a:solidFill>
                <a:highlight>
                  <a:srgbClr val="EFF0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agentskills.io </a:t>
            </a:r>
            <a:r>
              <a:rPr lang="en-US" sz="3300" kern="0" spc="-40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— consumed by AI coding agents as a library of on-demand capabilities, with no build step and no install command.</a:t>
            </a:r>
            <a:endParaRPr lang="en-US" sz="3300" dirty="0"/>
          </a:p>
        </p:txBody>
      </p:sp>
      <p:sp>
        <p:nvSpPr>
          <p:cNvPr id="8" name="Text 5"/>
          <p:cNvSpPr/>
          <p:nvPr/>
        </p:nvSpPr>
        <p:spPr>
          <a:xfrm>
            <a:off x="1143000" y="5537895"/>
            <a:ext cx="5420305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5000" kern="0" spc="-600" dirty="0">
                <a:solidFill>
                  <a:srgbClr val="334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5000" dirty="0"/>
          </a:p>
        </p:txBody>
      </p:sp>
      <p:sp>
        <p:nvSpPr>
          <p:cNvPr id="9" name="Text 6"/>
          <p:cNvSpPr/>
          <p:nvPr/>
        </p:nvSpPr>
        <p:spPr>
          <a:xfrm>
            <a:off x="1143000" y="7423845"/>
            <a:ext cx="5075377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8E8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shipped today, authoritative count from the generated registry.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6680150" y="5537895"/>
            <a:ext cx="5420387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5000" kern="0" spc="-600" dirty="0">
                <a:solidFill>
                  <a:srgbClr val="334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0" dirty="0"/>
          </a:p>
        </p:txBody>
      </p:sp>
      <p:sp>
        <p:nvSpPr>
          <p:cNvPr id="11" name="Text 8"/>
          <p:cNvSpPr/>
          <p:nvPr/>
        </p:nvSpPr>
        <p:spPr>
          <a:xfrm>
            <a:off x="6680150" y="7423845"/>
            <a:ext cx="5075454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8E8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Top-level flows: greenfield, brownfield, and quick-dev.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12217375" y="5537895"/>
            <a:ext cx="5420305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5000" kern="0" spc="-600" dirty="0">
                <a:solidFill>
                  <a:srgbClr val="334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0" dirty="0"/>
          </a:p>
        </p:txBody>
      </p:sp>
      <p:sp>
        <p:nvSpPr>
          <p:cNvPr id="13" name="Text 10"/>
          <p:cNvSpPr/>
          <p:nvPr/>
        </p:nvSpPr>
        <p:spPr>
          <a:xfrm>
            <a:off x="12217375" y="7423845"/>
            <a:ext cx="5075377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8E8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Global, multi-repo knowledge base — built once, kept current.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983456"/>
            <a:ext cx="2012826" cy="266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984114" y="952500"/>
            <a:ext cx="106836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20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5281077" y="952500"/>
            <a:ext cx="21795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34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5727635" y="952500"/>
            <a:ext cx="1559101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Motivation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143000" y="1814513"/>
            <a:ext cx="176022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 A.I.D.E. SOLVES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143000" y="2409825"/>
            <a:ext cx="14716125" cy="14918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5400" kern="0" spc="-97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 are fast, fluent, and untraceable by default.</a:t>
            </a:r>
            <a:endParaRPr lang="en-US" sz="5400" dirty="0"/>
          </a:p>
        </p:txBody>
      </p:sp>
      <p:sp>
        <p:nvSpPr>
          <p:cNvPr id="8" name="Shape 5"/>
          <p:cNvSpPr/>
          <p:nvPr/>
        </p:nvSpPr>
        <p:spPr>
          <a:xfrm>
            <a:off x="1143000" y="4625578"/>
            <a:ext cx="5029200" cy="4708922"/>
          </a:xfrm>
          <a:prstGeom prst="rect">
            <a:avLst/>
          </a:prstGeom>
          <a:solidFill>
            <a:srgbClr val="FFFFFF"/>
          </a:solidFill>
          <a:ln w="9525">
            <a:solidFill>
              <a:srgbClr val="E9E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495425" y="4978003"/>
            <a:ext cx="475678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WITHOUT A FRAMEWORK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495425" y="5478066"/>
            <a:ext cx="4454081" cy="792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00" kern="0" spc="-27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Plausible content, no provenance.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1495425" y="6403777"/>
            <a:ext cx="4454081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8E8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fabricate requirements, design choices, and ADRs that look right but cite nothing.</a:t>
            </a:r>
            <a:endParaRPr lang="en-US" sz="2250" dirty="0"/>
          </a:p>
        </p:txBody>
      </p:sp>
      <p:sp>
        <p:nvSpPr>
          <p:cNvPr id="12" name="Shape 9"/>
          <p:cNvSpPr/>
          <p:nvPr/>
        </p:nvSpPr>
        <p:spPr>
          <a:xfrm>
            <a:off x="6629400" y="4625578"/>
            <a:ext cx="5029200" cy="4708922"/>
          </a:xfrm>
          <a:prstGeom prst="rect">
            <a:avLst/>
          </a:prstGeom>
          <a:solidFill>
            <a:srgbClr val="FFFFFF"/>
          </a:solidFill>
          <a:ln w="9525">
            <a:solidFill>
              <a:srgbClr val="E9E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981825" y="4978003"/>
            <a:ext cx="475678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WITHOUT A FRAMEWORK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981825" y="5478066"/>
            <a:ext cx="4454081" cy="792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00" kern="0" spc="-27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project reinvents structure.</a:t>
            </a:r>
            <a:endParaRPr lang="en-US" sz="2700" dirty="0"/>
          </a:p>
        </p:txBody>
      </p:sp>
      <p:sp>
        <p:nvSpPr>
          <p:cNvPr id="15" name="Text 12"/>
          <p:cNvSpPr/>
          <p:nvPr/>
        </p:nvSpPr>
        <p:spPr>
          <a:xfrm>
            <a:off x="6981825" y="6403777"/>
            <a:ext cx="4454081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8E8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 drift, sections multiply, and lite versions fork from heavy versions silently.</a:t>
            </a:r>
            <a:endParaRPr lang="en-US" sz="2250" dirty="0"/>
          </a:p>
        </p:txBody>
      </p:sp>
      <p:sp>
        <p:nvSpPr>
          <p:cNvPr id="16" name="Shape 13"/>
          <p:cNvSpPr/>
          <p:nvPr/>
        </p:nvSpPr>
        <p:spPr>
          <a:xfrm>
            <a:off x="12115800" y="4625578"/>
            <a:ext cx="5029200" cy="4708922"/>
          </a:xfrm>
          <a:prstGeom prst="rect">
            <a:avLst/>
          </a:prstGeom>
          <a:solidFill>
            <a:srgbClr val="FFFFFF"/>
          </a:solidFill>
          <a:ln w="9525">
            <a:solidFill>
              <a:srgbClr val="E9E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2468225" y="4978003"/>
            <a:ext cx="4454081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PRINCIPLE 01 · SOURCE-VERIFIED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2468225" y="5806678"/>
            <a:ext cx="4756785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00" kern="0" spc="-27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Elicit, compose, validate.</a:t>
            </a:r>
            <a:endParaRPr lang="en-US" sz="2700" dirty="0"/>
          </a:p>
        </p:txBody>
      </p:sp>
      <p:sp>
        <p:nvSpPr>
          <p:cNvPr id="19" name="Text 16"/>
          <p:cNvSpPr/>
          <p:nvPr/>
        </p:nvSpPr>
        <p:spPr>
          <a:xfrm>
            <a:off x="12468225" y="6355259"/>
            <a:ext cx="4454081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8E8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artifact resolves to a citation, a composition manifest, and a passing validator.</a:t>
            </a:r>
            <a:endParaRPr lang="en-US" sz="2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983456"/>
            <a:ext cx="2012826" cy="266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409316" y="952500"/>
            <a:ext cx="106836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20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5706279" y="952500"/>
            <a:ext cx="21795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34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6152837" y="952500"/>
            <a:ext cx="106836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Map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143000" y="1814513"/>
            <a:ext cx="176022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 FLOWS FEED ONE KNOWLEDGE BASE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143000" y="2333625"/>
            <a:ext cx="17602200" cy="764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5400" kern="0" spc="-97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shape of the framework.</a:t>
            </a:r>
            <a:endParaRPr lang="en-US" sz="5400" dirty="0"/>
          </a:p>
        </p:txBody>
      </p:sp>
      <p:sp>
        <p:nvSpPr>
          <p:cNvPr id="8" name="Shape 5"/>
          <p:cNvSpPr/>
          <p:nvPr/>
        </p:nvSpPr>
        <p:spPr>
          <a:xfrm>
            <a:off x="1143000" y="3640113"/>
            <a:ext cx="5206975" cy="2062088"/>
          </a:xfrm>
          <a:prstGeom prst="rect">
            <a:avLst/>
          </a:prstGeom>
          <a:solidFill>
            <a:srgbClr val="FFFFFF"/>
          </a:solidFill>
          <a:ln w="9525">
            <a:solidFill>
              <a:srgbClr val="1913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906191" y="3859188"/>
            <a:ext cx="4048571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334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 01 · EXISTING CODE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2957661" y="4264000"/>
            <a:ext cx="1735336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00" kern="0" spc="-27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Brownfield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2038722" y="4945931"/>
            <a:ext cx="3757084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8E8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Reverse-engineer first, then deliver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540475" y="3640113"/>
            <a:ext cx="5206975" cy="2062088"/>
          </a:xfrm>
          <a:prstGeom prst="rect">
            <a:avLst/>
          </a:prstGeom>
          <a:solidFill>
            <a:srgbClr val="FFFFFF"/>
          </a:solidFill>
          <a:ln w="9525">
            <a:solidFill>
              <a:srgbClr val="1913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823621" y="3859188"/>
            <a:ext cx="5104671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334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 02 · FORWARD-ENGINEERING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378056" y="4264000"/>
            <a:ext cx="1684913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00" kern="0" spc="-27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Greenfield</a:t>
            </a:r>
            <a:endParaRPr lang="en-US" sz="2700" dirty="0"/>
          </a:p>
        </p:txBody>
      </p:sp>
      <p:sp>
        <p:nvSpPr>
          <p:cNvPr id="15" name="Text 12"/>
          <p:cNvSpPr/>
          <p:nvPr/>
        </p:nvSpPr>
        <p:spPr>
          <a:xfrm>
            <a:off x="7082284" y="4945931"/>
            <a:ext cx="4535612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8E8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SDLC: requirements → design → build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11937950" y="3640113"/>
            <a:ext cx="5207050" cy="2062088"/>
          </a:xfrm>
          <a:prstGeom prst="rect">
            <a:avLst/>
          </a:prstGeom>
          <a:solidFill>
            <a:srgbClr val="FFFFFF"/>
          </a:solidFill>
          <a:ln w="9525">
            <a:solidFill>
              <a:srgbClr val="1913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2781211" y="3859188"/>
            <a:ext cx="38725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334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 03 · SMALL CHANGE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3769801" y="4264000"/>
            <a:ext cx="1697601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00" kern="0" spc="-27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Quick-dev</a:t>
            </a:r>
            <a:endParaRPr lang="en-US" sz="2700" dirty="0"/>
          </a:p>
        </p:txBody>
      </p:sp>
      <p:sp>
        <p:nvSpPr>
          <p:cNvPr id="19" name="Text 16"/>
          <p:cNvSpPr/>
          <p:nvPr/>
        </p:nvSpPr>
        <p:spPr>
          <a:xfrm>
            <a:off x="12686109" y="4945931"/>
            <a:ext cx="4081723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8E8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spec, lightweight plan, ship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1143000" y="5892701"/>
            <a:ext cx="16002000" cy="2279303"/>
          </a:xfrm>
          <a:prstGeom prst="rect">
            <a:avLst/>
          </a:prstGeom>
          <a:solidFill>
            <a:srgbClr val="19131F"/>
          </a:solidFill>
          <a:ln w="9525">
            <a:solidFill>
              <a:srgbClr val="1913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1495425" y="6168926"/>
            <a:ext cx="1682686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C89F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SIBLING REPO · FED BY EVERY FLOW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495425" y="6611838"/>
            <a:ext cx="16826865" cy="499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300" kern="0" spc="-3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</a:t>
            </a:r>
            <a:endParaRPr lang="en-US" sz="3300" dirty="0"/>
          </a:p>
        </p:txBody>
      </p:sp>
      <p:sp>
        <p:nvSpPr>
          <p:cNvPr id="23" name="Text 20"/>
          <p:cNvSpPr/>
          <p:nvPr/>
        </p:nvSpPr>
        <p:spPr>
          <a:xfrm>
            <a:off x="1495425" y="7358583"/>
            <a:ext cx="16826865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Markdown + frontmatter. Read by grep, not by embedding.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1143000" y="8362504"/>
            <a:ext cx="16002000" cy="697185"/>
          </a:xfrm>
          <a:prstGeom prst="rect">
            <a:avLst/>
          </a:prstGeom>
          <a:solidFill>
            <a:srgbClr val="3348FF"/>
          </a:solidFill>
          <a:ln w="9525">
            <a:solidFill>
              <a:srgbClr val="334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1457325" y="8546753"/>
            <a:ext cx="299239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FFFFFF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CLOSES EVERY FLOW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15597783" y="8543479"/>
            <a:ext cx="1356181" cy="373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kern="0" spc="-2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create-pr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9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983456"/>
            <a:ext cx="2012826" cy="266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558912" y="952500"/>
            <a:ext cx="106836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20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4855875" y="952500"/>
            <a:ext cx="21795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34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5302433" y="952500"/>
            <a:ext cx="202682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Principles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143000" y="1814513"/>
            <a:ext cx="176022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FFFFFF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REFERENCES/AI-PRINCIPLES/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143000" y="2333625"/>
            <a:ext cx="17602200" cy="764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5400" kern="0" spc="-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working principles, baked in and enforced.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1143000" y="3612952"/>
            <a:ext cx="4191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4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657350" y="3517702"/>
            <a:ext cx="731882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Source-verified facts. Every claim resolves to a citation. "Inferred" is rejected.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1143000" y="4679752"/>
            <a:ext cx="4191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4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657350" y="4584502"/>
            <a:ext cx="731882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Scaffold-then-extract. Scaffold the full intended structure on disk first; then fill sections.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1143000" y="5746552"/>
            <a:ext cx="4191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4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657350" y="5651302"/>
            <a:ext cx="731882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Elicit before generating. Questions one at a time. Answers persisted on disk, not just in chat.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1143000" y="6813352"/>
            <a:ext cx="4191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4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657350" y="6718102"/>
            <a:ext cx="731882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Composition is authoritative. Sections come from the YAML manifest, not from agent improvisation.</a:t>
            </a:r>
            <a:endParaRPr lang="en-US" sz="2250" dirty="0"/>
          </a:p>
        </p:txBody>
      </p:sp>
      <p:sp>
        <p:nvSpPr>
          <p:cNvPr id="16" name="Text 13"/>
          <p:cNvSpPr/>
          <p:nvPr/>
        </p:nvSpPr>
        <p:spPr>
          <a:xfrm>
            <a:off x="9525000" y="3627239"/>
            <a:ext cx="4191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4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0039350" y="3517702"/>
            <a:ext cx="731882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Progressive disclosure. </a:t>
            </a:r>
            <a:r>
              <a:rPr lang="en-US" sz="2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SKILL.md </a:t>
            </a: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200 lines. Details in </a:t>
            </a:r>
            <a:r>
              <a:rPr lang="en-US" sz="2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references/</a:t>
            </a: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loaded on demand.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9525000" y="4722614"/>
            <a:ext cx="4191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4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0039350" y="4613077"/>
            <a:ext cx="731882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Skill-to-skill handoff by name. </a:t>
            </a:r>
            <a:r>
              <a:rPr lang="en-US" sz="2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Next skill </a:t>
            </a: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trigger phrase; never </a:t>
            </a:r>
            <a:r>
              <a:rPr lang="en-US" sz="2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-include.</a:t>
            </a:r>
            <a:endParaRPr lang="en-US" sz="2250" dirty="0"/>
          </a:p>
        </p:txBody>
      </p:sp>
      <p:sp>
        <p:nvSpPr>
          <p:cNvPr id="20" name="Text 17"/>
          <p:cNvSpPr/>
          <p:nvPr/>
        </p:nvSpPr>
        <p:spPr>
          <a:xfrm>
            <a:off x="9525000" y="5803702"/>
            <a:ext cx="4191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4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0039350" y="5708452"/>
            <a:ext cx="731882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Halt on ambiguity. An explicit halt with a specific question beats a silent guess.</a:t>
            </a:r>
            <a:endParaRPr lang="en-US" sz="2250" dirty="0"/>
          </a:p>
        </p:txBody>
      </p:sp>
      <p:sp>
        <p:nvSpPr>
          <p:cNvPr id="22" name="Text 19"/>
          <p:cNvSpPr/>
          <p:nvPr/>
        </p:nvSpPr>
        <p:spPr>
          <a:xfrm>
            <a:off x="9525000" y="6870502"/>
            <a:ext cx="4191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4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0039350" y="6775252"/>
            <a:ext cx="731882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Append-only decisions. ADRs, bug log, change log are never edited in place — supersede with a new entry.</a:t>
            </a:r>
            <a:endParaRPr lang="en-US" sz="2250" dirty="0"/>
          </a:p>
        </p:txBody>
      </p:sp>
      <p:sp>
        <p:nvSpPr>
          <p:cNvPr id="24" name="Shape 21"/>
          <p:cNvSpPr/>
          <p:nvPr/>
        </p:nvSpPr>
        <p:spPr>
          <a:xfrm>
            <a:off x="1143000" y="7575352"/>
            <a:ext cx="160020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1143000" y="7889677"/>
            <a:ext cx="7656924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334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IN 1.5.1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1143000" y="8313539"/>
            <a:ext cx="7656924" cy="422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700" kern="0" spc="-3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write-discipline contract.</a:t>
            </a:r>
            <a:endParaRPr lang="en-US" sz="2700" dirty="0"/>
          </a:p>
        </p:txBody>
      </p:sp>
      <p:sp>
        <p:nvSpPr>
          <p:cNvPr id="27" name="Text 24"/>
          <p:cNvSpPr/>
          <p:nvPr/>
        </p:nvSpPr>
        <p:spPr>
          <a:xfrm>
            <a:off x="1143000" y="8926116"/>
            <a:ext cx="7169665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FFFFFF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ninth cross-cutting reference loaded by every </a:t>
            </a: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create-* </a:t>
            </a:r>
            <a:r>
              <a:rPr lang="en-US" sz="1800" dirty="0">
                <a:solidFill>
                  <a:srgbClr val="FFFFFF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as a Before-Step-0 instruction.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8637240" y="8034933"/>
            <a:ext cx="8762993" cy="1662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mandatory pre-skill prompts. The </a:t>
            </a:r>
            <a:r>
              <a:rPr lang="en-US" sz="2250" b="1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write-on-acknowledge </a:t>
            </a:r>
            <a:r>
              <a:rPr lang="en-US" sz="2250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invariant — artifacts flush to disk the moment the user acknowledges. An explicit guard against the “draft-in-chat-then-flush” anti-pattern.</a:t>
            </a:r>
            <a:endParaRPr lang="en-US" sz="2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983456"/>
            <a:ext cx="2012826" cy="266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558912" y="952500"/>
            <a:ext cx="106836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20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4855875" y="952500"/>
            <a:ext cx="21795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34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5302433" y="952500"/>
            <a:ext cx="202682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 Anatomy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143000" y="1814513"/>
            <a:ext cx="176022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SELF-DOCUMENTING STANDARD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143000" y="2333625"/>
            <a:ext cx="17602200" cy="764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5400" kern="0" spc="-97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skill ships </a:t>
            </a:r>
            <a:r>
              <a:rPr lang="en-US" sz="5400" kern="0" spc="-97" dirty="0">
                <a:solidFill>
                  <a:srgbClr val="334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exactly three </a:t>
            </a:r>
            <a:r>
              <a:rPr lang="en-US" sz="5400" kern="0" spc="-97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files.</a:t>
            </a:r>
            <a:endParaRPr lang="en-US" sz="5400" dirty="0"/>
          </a:p>
        </p:txBody>
      </p:sp>
      <p:sp>
        <p:nvSpPr>
          <p:cNvPr id="8" name="Shape 5"/>
          <p:cNvSpPr/>
          <p:nvPr/>
        </p:nvSpPr>
        <p:spPr>
          <a:xfrm>
            <a:off x="1143000" y="3593902"/>
            <a:ext cx="7620000" cy="5740598"/>
          </a:xfrm>
          <a:prstGeom prst="roundRect">
            <a:avLst>
              <a:gd name="adj" fmla="val 1327"/>
            </a:avLst>
          </a:prstGeom>
          <a:solidFill>
            <a:srgbClr val="1913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485900" y="3898702"/>
            <a:ext cx="7162800" cy="516909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>
              <a:lnSpc>
                <a:spcPct val="165000"/>
              </a:lnSpc>
              <a:buNone/>
              <a:tabLst>
                <a:tab pos="479425" algn="l"/>
                <a:tab pos="882650" algn="l"/>
                <a:tab pos="1192213" algn="l"/>
              </a:tabLst>
            </a:pPr>
            <a:r>
              <a:rPr lang="en-US" sz="1800" dirty="0">
                <a:solidFill>
                  <a:srgbClr val="FFFFFF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&lt;skill&gt;/ </a:t>
            </a:r>
            <a:r>
              <a:rPr lang="en-US" sz="1800" dirty="0">
                <a:solidFill>
                  <a:srgbClr val="FFFFFF"/>
                </a:solidFill>
                <a:highlight>
                  <a:srgbClr val="19131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</a:p>
          <a:p>
            <a:pPr algn="l">
              <a:lnSpc>
                <a:spcPct val="165000"/>
              </a:lnSpc>
              <a:buNone/>
              <a:tabLst>
                <a:tab pos="479425" algn="l"/>
                <a:tab pos="882650" algn="l"/>
                <a:tab pos="1192213" algn="l"/>
              </a:tabLst>
            </a:pPr>
            <a:r>
              <a:rPr lang="en-US" dirty="0">
                <a:solidFill>
                  <a:srgbClr val="FFFFFF"/>
                </a:solidFill>
                <a:highlight>
                  <a:srgbClr val="19131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	</a:t>
            </a:r>
            <a:r>
              <a:rPr lang="en-US" sz="1800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SKILL.md</a:t>
            </a:r>
            <a:r>
              <a:rPr lang="en-US" sz="1800" dirty="0">
                <a:solidFill>
                  <a:srgbClr val="FFFFFF"/>
                </a:solidFill>
                <a:highlight>
                  <a:srgbClr val="19131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</a:t>
            </a:r>
            <a:r>
              <a:rPr lang="en-US" sz="1800" dirty="0">
                <a:solidFill>
                  <a:srgbClr val="FFFFFF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≤200 lines </a:t>
            </a:r>
            <a:r>
              <a:rPr lang="en-US" sz="1800" dirty="0">
                <a:solidFill>
                  <a:srgbClr val="FFFFFF"/>
                </a:solidFill>
                <a:highlight>
                  <a:srgbClr val="19131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</a:p>
          <a:p>
            <a:pPr algn="l">
              <a:lnSpc>
                <a:spcPct val="165000"/>
              </a:lnSpc>
              <a:buNone/>
              <a:tabLst>
                <a:tab pos="479425" algn="l"/>
                <a:tab pos="882650" algn="l"/>
                <a:tab pos="1192213" algn="l"/>
              </a:tabLst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	references/ </a:t>
            </a:r>
            <a:r>
              <a:rPr lang="en-US" sz="1800" dirty="0">
                <a:solidFill>
                  <a:srgbClr val="FFFFFF"/>
                </a:solidFill>
                <a:highlight>
                  <a:srgbClr val="19131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</a:p>
          <a:p>
            <a:pPr algn="l">
              <a:lnSpc>
                <a:spcPct val="165000"/>
              </a:lnSpc>
              <a:buNone/>
              <a:tabLst>
                <a:tab pos="479425" algn="l"/>
                <a:tab pos="882650" algn="l"/>
                <a:tab pos="1192213" algn="l"/>
              </a:tabLst>
            </a:pPr>
            <a:r>
              <a:rPr lang="en-US" sz="1800" dirty="0">
                <a:solidFill>
                  <a:srgbClr val="D0DF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		</a:t>
            </a:r>
            <a:r>
              <a:rPr lang="en-US" sz="1800" dirty="0" err="1">
                <a:solidFill>
                  <a:srgbClr val="D0DF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OVERVIEW.md</a:t>
            </a:r>
            <a:r>
              <a:rPr lang="en-US" sz="1800" dirty="0">
                <a:solidFill>
                  <a:srgbClr val="FFFFFF"/>
                </a:solidFill>
                <a:highlight>
                  <a:srgbClr val="19131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800" dirty="0">
                <a:solidFill>
                  <a:srgbClr val="FFFFFF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when to use </a:t>
            </a:r>
            <a:r>
              <a:rPr lang="en-US" sz="1800" dirty="0">
                <a:solidFill>
                  <a:srgbClr val="FFFFFF"/>
                </a:solidFill>
                <a:highlight>
                  <a:srgbClr val="19131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</a:p>
          <a:p>
            <a:pPr algn="l">
              <a:lnSpc>
                <a:spcPct val="165000"/>
              </a:lnSpc>
              <a:buNone/>
              <a:tabLst>
                <a:tab pos="479425" algn="l"/>
                <a:tab pos="882650" algn="l"/>
                <a:tab pos="1192213" algn="l"/>
              </a:tabLst>
            </a:pPr>
            <a:r>
              <a:rPr lang="en-US" sz="1800" dirty="0">
                <a:solidFill>
                  <a:srgbClr val="D0DF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		INPUTS-</a:t>
            </a:r>
            <a:r>
              <a:rPr lang="en-US" sz="1800" dirty="0" err="1">
                <a:solidFill>
                  <a:srgbClr val="D0DF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OUTPUTS.md</a:t>
            </a:r>
            <a:r>
              <a:rPr lang="en-US" sz="1800" dirty="0">
                <a:solidFill>
                  <a:srgbClr val="FFFFFF"/>
                </a:solidFill>
                <a:highlight>
                  <a:srgbClr val="19131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800" dirty="0">
                <a:solidFill>
                  <a:srgbClr val="FFFFFF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params + outputs </a:t>
            </a:r>
            <a:r>
              <a:rPr lang="en-US" sz="1800" dirty="0">
                <a:solidFill>
                  <a:srgbClr val="FFFFFF"/>
                </a:solidFill>
                <a:highlight>
                  <a:srgbClr val="19131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</a:p>
          <a:p>
            <a:pPr algn="l">
              <a:lnSpc>
                <a:spcPct val="165000"/>
              </a:lnSpc>
              <a:buNone/>
              <a:tabLst>
                <a:tab pos="479425" algn="l"/>
                <a:tab pos="882650" algn="l"/>
                <a:tab pos="1192213" algn="l"/>
              </a:tabLst>
            </a:pPr>
            <a:r>
              <a:rPr lang="en-US" sz="1800" dirty="0">
                <a:solidFill>
                  <a:srgbClr val="D0DF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		</a:t>
            </a:r>
            <a:r>
              <a:rPr lang="en-US" sz="1800" dirty="0" err="1">
                <a:solidFill>
                  <a:srgbClr val="D0DF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EXAMPLE.md</a:t>
            </a:r>
            <a:r>
              <a:rPr lang="en-US" sz="1800" dirty="0">
                <a:solidFill>
                  <a:srgbClr val="FFFFFF"/>
                </a:solidFill>
                <a:highlight>
                  <a:srgbClr val="19131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800" dirty="0">
                <a:solidFill>
                  <a:srgbClr val="FFFFFF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worked example </a:t>
            </a:r>
            <a:r>
              <a:rPr lang="en-US" sz="1800" dirty="0">
                <a:solidFill>
                  <a:srgbClr val="FFFFFF"/>
                </a:solidFill>
                <a:highlight>
                  <a:srgbClr val="19131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</a:p>
          <a:p>
            <a:pPr algn="l">
              <a:lnSpc>
                <a:spcPct val="165000"/>
              </a:lnSpc>
              <a:buNone/>
              <a:tabLst>
                <a:tab pos="479425" algn="l"/>
                <a:tab pos="882650" algn="l"/>
                <a:tab pos="1192213" algn="l"/>
              </a:tabLst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	steps/</a:t>
            </a:r>
            <a:r>
              <a:rPr lang="en-US" sz="1800" dirty="0">
                <a:solidFill>
                  <a:srgbClr val="FFFFFF"/>
                </a:solidFill>
                <a:highlight>
                  <a:srgbClr val="19131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r>
              <a:rPr lang="en-US" sz="1800" dirty="0">
                <a:solidFill>
                  <a:srgbClr val="FFFFFF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optional</a:t>
            </a:r>
            <a:endParaRPr lang="en-US" sz="1800" dirty="0">
              <a:solidFill>
                <a:srgbClr val="FFFFFF"/>
              </a:solidFill>
              <a:highlight>
                <a:srgbClr val="19131F"/>
              </a:highlight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algn="l">
              <a:lnSpc>
                <a:spcPct val="165000"/>
              </a:lnSpc>
              <a:buNone/>
              <a:tabLst>
                <a:tab pos="479425" algn="l"/>
                <a:tab pos="882650" algn="l"/>
                <a:tab pos="1192213" algn="l"/>
              </a:tabLst>
            </a:pPr>
            <a:r>
              <a:rPr lang="en-US" sz="1800" dirty="0">
                <a:solidFill>
                  <a:srgbClr val="D0DF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		01-…md </a:t>
            </a:r>
            <a:r>
              <a:rPr lang="en-US" sz="1800" dirty="0">
                <a:solidFill>
                  <a:srgbClr val="FFFFFF"/>
                </a:solidFill>
                <a:highlight>
                  <a:srgbClr val="19131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</a:p>
          <a:p>
            <a:pPr algn="l">
              <a:lnSpc>
                <a:spcPct val="165000"/>
              </a:lnSpc>
              <a:buNone/>
              <a:tabLst>
                <a:tab pos="479425" algn="l"/>
                <a:tab pos="882650" algn="l"/>
                <a:tab pos="1192213" algn="l"/>
              </a:tabLst>
            </a:pPr>
            <a:r>
              <a:rPr lang="en-US" sz="1800" dirty="0">
                <a:solidFill>
                  <a:srgbClr val="D0DF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		02-…md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525000" y="3593902"/>
            <a:ext cx="83820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FRONTMATTER IS A ROUTING TABLE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525000" y="4055864"/>
            <a:ext cx="7848600" cy="1262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</a:t>
            </a:r>
            <a:r>
              <a:rPr lang="en-US" sz="2250" dirty="0">
                <a:solidFill>
                  <a:srgbClr val="19131F"/>
                </a:solidFill>
                <a:highlight>
                  <a:srgbClr val="EFF0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SKILL.md </a:t>
            </a:r>
            <a:r>
              <a:rPr lang="en-US" sz="2250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 is written in </a:t>
            </a:r>
            <a:r>
              <a:rPr lang="en-US" sz="2250" b="1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"Use when…" </a:t>
            </a:r>
            <a:r>
              <a:rPr lang="en-US" sz="2250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form, so the generated registry doubles as the framework's runtime dispatcher.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9525000" y="5546527"/>
            <a:ext cx="83820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PRINCIPLE 05 · PROGRESSIVE DISCLOSURE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9525000" y="6008489"/>
            <a:ext cx="7848600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19131F"/>
                </a:solidFill>
                <a:highlight>
                  <a:srgbClr val="EFF0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SKILL.md </a:t>
            </a:r>
            <a:r>
              <a:rPr lang="en-US" sz="2250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stays under 200 lines. Deep detail lives in </a:t>
            </a:r>
            <a:r>
              <a:rPr lang="en-US" sz="2250" dirty="0">
                <a:solidFill>
                  <a:srgbClr val="19131F"/>
                </a:solidFill>
                <a:highlight>
                  <a:srgbClr val="EFF0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references/ </a:t>
            </a:r>
            <a:r>
              <a:rPr lang="en-US" sz="2250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is loaded only when an agent decides it needs it.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9525000" y="7475339"/>
            <a:ext cx="83820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ENFORCED, NOT ASSUMED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9525000" y="7937302"/>
            <a:ext cx="78486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19131F"/>
                </a:solidFill>
                <a:highlight>
                  <a:srgbClr val="EFF0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scripts/validate.py </a:t>
            </a:r>
            <a:r>
              <a:rPr lang="en-US" sz="2250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block / composition / graph cross-references and fails CI on mismatch.</a:t>
            </a:r>
            <a:endParaRPr lang="en-US" sz="2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983456"/>
            <a:ext cx="2012826" cy="266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417228" y="952500"/>
            <a:ext cx="106836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20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4714190" y="952500"/>
            <a:ext cx="21795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34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5160749" y="952500"/>
            <a:ext cx="2182676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Self-Discovery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143000" y="1814513"/>
            <a:ext cx="176022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FRAMEWORK KNOWS ABOUT ITSELF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143000" y="2333625"/>
            <a:ext cx="16482060" cy="14918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5400" kern="0" spc="-97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artifacts. One generator. Zero hand-maintenance.</a:t>
            </a:r>
            <a:endParaRPr lang="en-US" sz="5400" dirty="0"/>
          </a:p>
        </p:txBody>
      </p:sp>
      <p:sp>
        <p:nvSpPr>
          <p:cNvPr id="8" name="Shape 5"/>
          <p:cNvSpPr/>
          <p:nvPr/>
        </p:nvSpPr>
        <p:spPr>
          <a:xfrm>
            <a:off x="1143000" y="4978896"/>
            <a:ext cx="3520380" cy="9525"/>
          </a:xfrm>
          <a:prstGeom prst="rect">
            <a:avLst/>
          </a:prstGeom>
          <a:solidFill>
            <a:srgbClr val="D8D0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295400" y="4492228"/>
            <a:ext cx="3321192" cy="3533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108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ARTIFACT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663380" y="4978896"/>
            <a:ext cx="3840435" cy="9525"/>
          </a:xfrm>
          <a:prstGeom prst="rect">
            <a:avLst/>
          </a:prstGeom>
          <a:solidFill>
            <a:srgbClr val="D8D0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815780" y="4492228"/>
            <a:ext cx="3650848" cy="3533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108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503816" y="4978896"/>
            <a:ext cx="8641184" cy="9525"/>
          </a:xfrm>
          <a:prstGeom prst="rect">
            <a:avLst/>
          </a:prstGeom>
          <a:solidFill>
            <a:srgbClr val="D8D0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656216" y="4492228"/>
            <a:ext cx="8595620" cy="3533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108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PURPOSE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1143000" y="5971282"/>
            <a:ext cx="3520380" cy="9525"/>
          </a:xfrm>
          <a:prstGeom prst="rect">
            <a:avLst/>
          </a:prstGeom>
          <a:solidFill>
            <a:srgbClr val="E9E8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295400" y="5159871"/>
            <a:ext cx="3321192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913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skills.csv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4663380" y="5971282"/>
            <a:ext cx="3840435" cy="9525"/>
          </a:xfrm>
          <a:prstGeom prst="rect">
            <a:avLst/>
          </a:prstGeom>
          <a:solidFill>
            <a:srgbClr val="E9E8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815780" y="5159871"/>
            <a:ext cx="3650848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by </a:t>
            </a:r>
            <a:r>
              <a:rPr lang="en-US" sz="1800" dirty="0">
                <a:solidFill>
                  <a:srgbClr val="19131F"/>
                </a:solidFill>
                <a:highlight>
                  <a:srgbClr val="EFF0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build-registry.py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8503816" y="5971282"/>
            <a:ext cx="8641184" cy="9525"/>
          </a:xfrm>
          <a:prstGeom prst="rect">
            <a:avLst/>
          </a:prstGeom>
          <a:solidFill>
            <a:srgbClr val="E9E8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656216" y="5159871"/>
            <a:ext cx="859562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row per skill: </a:t>
            </a:r>
            <a:r>
              <a:rPr lang="en-US" sz="1800" dirty="0">
                <a:solidFill>
                  <a:srgbClr val="19131F"/>
                </a:solidFill>
                <a:highlight>
                  <a:srgbClr val="EFF0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canonical_id </a:t>
            </a:r>
            <a:r>
              <a:rPr lang="en-US" sz="1800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name, description, stage, package, path. The catalog.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1143000" y="6643688"/>
            <a:ext cx="3520380" cy="9525"/>
          </a:xfrm>
          <a:prstGeom prst="rect">
            <a:avLst/>
          </a:prstGeom>
          <a:solidFill>
            <a:srgbClr val="E9E8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1295400" y="6152257"/>
            <a:ext cx="332119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913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skills.json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4663380" y="6643688"/>
            <a:ext cx="3840435" cy="9525"/>
          </a:xfrm>
          <a:prstGeom prst="rect">
            <a:avLst/>
          </a:prstGeom>
          <a:solidFill>
            <a:srgbClr val="E9E8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815780" y="6152257"/>
            <a:ext cx="3650848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by the same script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8503816" y="6643688"/>
            <a:ext cx="8641184" cy="9525"/>
          </a:xfrm>
          <a:prstGeom prst="rect">
            <a:avLst/>
          </a:prstGeom>
          <a:solidFill>
            <a:srgbClr val="E9E8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8656216" y="6152257"/>
            <a:ext cx="859562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data, JSON shape — consumed by the navigator and validators.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1143000" y="7316093"/>
            <a:ext cx="3520380" cy="9525"/>
          </a:xfrm>
          <a:prstGeom prst="rect">
            <a:avLst/>
          </a:prstGeom>
          <a:solidFill>
            <a:srgbClr val="E9E8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1295400" y="6824663"/>
            <a:ext cx="332119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913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workflow-graph.yaml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4663380" y="7316093"/>
            <a:ext cx="3840435" cy="9525"/>
          </a:xfrm>
          <a:prstGeom prst="rect">
            <a:avLst/>
          </a:prstGeom>
          <a:solidFill>
            <a:srgbClr val="E9E8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815780" y="6824663"/>
            <a:ext cx="3650848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Hand-authored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8503816" y="7316093"/>
            <a:ext cx="8641184" cy="9525"/>
          </a:xfrm>
          <a:prstGeom prst="rect">
            <a:avLst/>
          </a:prstGeom>
          <a:solidFill>
            <a:srgbClr val="E9E8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8656216" y="6824663"/>
            <a:ext cx="859562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groupings, flow sequences, required gates, </a:t>
            </a:r>
            <a:r>
              <a:rPr lang="en-US" sz="1800" dirty="0">
                <a:solidFill>
                  <a:srgbClr val="19131F"/>
                </a:solidFill>
                <a:highlight>
                  <a:srgbClr val="EFF0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anytime </a:t>
            </a:r>
            <a:r>
              <a:rPr lang="en-US" sz="1800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skills.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1143000" y="7863780"/>
            <a:ext cx="16002000" cy="143648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1143000" y="7863780"/>
            <a:ext cx="38100" cy="1436489"/>
          </a:xfrm>
          <a:prstGeom prst="rect">
            <a:avLst/>
          </a:prstGeom>
          <a:solidFill>
            <a:srgbClr val="334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1524000" y="8168580"/>
            <a:ext cx="1680591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CONTRACT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1524000" y="8611493"/>
            <a:ext cx="16805910" cy="422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700" kern="0" spc="-32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</a:t>
            </a:r>
            <a:r>
              <a:rPr lang="en-US" sz="2700" kern="0" spc="-32" dirty="0">
                <a:solidFill>
                  <a:srgbClr val="19131F"/>
                </a:solidFill>
                <a:highlight>
                  <a:srgbClr val="EFF0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SKILL.md</a:t>
            </a:r>
            <a:r>
              <a:rPr lang="en-US" sz="2700" kern="0" spc="-32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Rerun </a:t>
            </a:r>
            <a:r>
              <a:rPr lang="en-US" sz="2700" kern="0" spc="-32" dirty="0">
                <a:solidFill>
                  <a:srgbClr val="19131F"/>
                </a:solidFill>
                <a:highlight>
                  <a:srgbClr val="EFF0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build-registry.py</a:t>
            </a:r>
            <a:r>
              <a:rPr lang="en-US" sz="2700" kern="0" spc="-32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 navigator picks it up.</a:t>
            </a:r>
            <a:endParaRPr lang="en-US" sz="2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983456"/>
            <a:ext cx="2012826" cy="266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708508" y="952500"/>
            <a:ext cx="106836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20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4005471" y="952500"/>
            <a:ext cx="21795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34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4452029" y="952500"/>
            <a:ext cx="2962268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framework-navigator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143000" y="1814513"/>
            <a:ext cx="176022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BUILT-IN SELF-HELP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143000" y="2333625"/>
            <a:ext cx="17602200" cy="764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5400" kern="0" spc="-97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one memorizes 42 skill names.</a:t>
            </a:r>
            <a:endParaRPr lang="en-US" sz="5400" dirty="0"/>
          </a:p>
        </p:txBody>
      </p:sp>
      <p:sp>
        <p:nvSpPr>
          <p:cNvPr id="8" name="Shape 5"/>
          <p:cNvSpPr/>
          <p:nvPr/>
        </p:nvSpPr>
        <p:spPr>
          <a:xfrm>
            <a:off x="1143000" y="3593902"/>
            <a:ext cx="7620000" cy="4806255"/>
          </a:xfrm>
          <a:prstGeom prst="rect">
            <a:avLst/>
          </a:prstGeom>
          <a:solidFill>
            <a:srgbClr val="FFFFFF"/>
          </a:solidFill>
          <a:ln w="9525">
            <a:solidFill>
              <a:srgbClr val="E9E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495425" y="3946327"/>
            <a:ext cx="760666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 1 · GOAL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495425" y="4503539"/>
            <a:ext cx="7606665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00" kern="0" spc="-27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want to do X."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1495425" y="5109270"/>
            <a:ext cx="7122605" cy="1666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8E8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states a goal in plain English. Navigator probes workspace state, scores skill descriptions against the utterance, applies gate filters from </a:t>
            </a:r>
            <a:r>
              <a:rPr lang="en-US" sz="2250" dirty="0">
                <a:solidFill>
                  <a:srgbClr val="19131F"/>
                </a:solidFill>
                <a:highlight>
                  <a:srgbClr val="EFF0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workflow-graph.yaml </a:t>
            </a:r>
            <a:r>
              <a:rPr lang="en-US" sz="2250" dirty="0">
                <a:solidFill>
                  <a:srgbClr val="8E8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50" dirty="0"/>
          </a:p>
        </p:txBody>
      </p:sp>
      <p:sp>
        <p:nvSpPr>
          <p:cNvPr id="12" name="Shape 9"/>
          <p:cNvSpPr/>
          <p:nvPr/>
        </p:nvSpPr>
        <p:spPr>
          <a:xfrm>
            <a:off x="1495425" y="6966645"/>
            <a:ext cx="6915150" cy="9525"/>
          </a:xfrm>
          <a:prstGeom prst="rect">
            <a:avLst/>
          </a:prstGeom>
          <a:solidFill>
            <a:srgbClr val="E9E8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495425" y="7147620"/>
            <a:ext cx="712260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r>
              <a:rPr lang="en-US" sz="1800" dirty="0">
                <a:solidFill>
                  <a:srgbClr val="1913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want to reverse-engineer this API.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495425" y="7704832"/>
            <a:ext cx="760666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34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analyze-repository </a:t>
            </a:r>
            <a:r>
              <a:rPr lang="en-US" sz="1800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(plus trigger phrase)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9525000" y="3593902"/>
            <a:ext cx="7620000" cy="4806255"/>
          </a:xfrm>
          <a:prstGeom prst="rect">
            <a:avLst/>
          </a:prstGeom>
          <a:solidFill>
            <a:srgbClr val="FFFFFF"/>
          </a:solidFill>
          <a:ln w="9525">
            <a:solidFill>
              <a:srgbClr val="E9E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877425" y="3946327"/>
            <a:ext cx="760666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 2 · CATALOG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9877425" y="4503539"/>
            <a:ext cx="7606665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00" kern="0" spc="-27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"Show me what's here."</a:t>
            </a:r>
            <a:endParaRPr lang="en-US" sz="2700" dirty="0"/>
          </a:p>
        </p:txBody>
      </p:sp>
      <p:sp>
        <p:nvSpPr>
          <p:cNvPr id="18" name="Text 15"/>
          <p:cNvSpPr/>
          <p:nvPr/>
        </p:nvSpPr>
        <p:spPr>
          <a:xfrm>
            <a:off x="9877425" y="5109270"/>
            <a:ext cx="7122605" cy="1681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8E8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Navigator renders a stage-grouped markdown table — </a:t>
            </a:r>
            <a:r>
              <a:rPr lang="en-US" sz="2250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| Skill | Description | When to use </a:t>
            </a:r>
            <a:r>
              <a:rPr lang="en-US" sz="2250" dirty="0">
                <a:solidFill>
                  <a:srgbClr val="8E8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plus the canonical flow sequences and the </a:t>
            </a:r>
            <a:r>
              <a:rPr lang="en-US" sz="2250" dirty="0">
                <a:solidFill>
                  <a:srgbClr val="19131F"/>
                </a:solidFill>
                <a:highlight>
                  <a:srgbClr val="EFF0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anytime </a:t>
            </a:r>
            <a:r>
              <a:rPr lang="en-US" sz="2250" dirty="0">
                <a:solidFill>
                  <a:srgbClr val="8E8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list.</a:t>
            </a:r>
            <a:endParaRPr lang="en-US" sz="2250" dirty="0"/>
          </a:p>
        </p:txBody>
      </p:sp>
      <p:sp>
        <p:nvSpPr>
          <p:cNvPr id="19" name="Shape 16"/>
          <p:cNvSpPr/>
          <p:nvPr/>
        </p:nvSpPr>
        <p:spPr>
          <a:xfrm>
            <a:off x="9877425" y="6980932"/>
            <a:ext cx="6915150" cy="9525"/>
          </a:xfrm>
          <a:prstGeom prst="rect">
            <a:avLst/>
          </a:prstGeom>
          <a:solidFill>
            <a:srgbClr val="E9E8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9877425" y="7161907"/>
            <a:ext cx="712260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r>
              <a:rPr lang="en-US" sz="1800" dirty="0">
                <a:solidFill>
                  <a:srgbClr val="1913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 all the skills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9877425" y="7719120"/>
            <a:ext cx="760666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34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full catalog, by stage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143000" y="8857357"/>
            <a:ext cx="15716250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8E8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Principle 06 · Skill-to-skill handoff by name. </a:t>
            </a:r>
            <a:r>
              <a:rPr lang="en-US" sz="2250" dirty="0">
                <a:solidFill>
                  <a:srgbClr val="8E8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navigator points at the next skill and steps aside.</a:t>
            </a:r>
            <a:endParaRPr lang="en-US" sz="2250" dirty="0"/>
          </a:p>
        </p:txBody>
      </p:sp>
      <p:sp>
        <p:nvSpPr>
          <p:cNvPr id="23" name="Text 20"/>
          <p:cNvSpPr/>
          <p:nvPr/>
        </p:nvSpPr>
        <p:spPr>
          <a:xfrm>
            <a:off x="1143000" y="9452670"/>
            <a:ext cx="15716250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8E8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Principle 07 · Halt on ambiguity. </a:t>
            </a:r>
            <a:r>
              <a:rPr lang="en-US" sz="2250" dirty="0">
                <a:solidFill>
                  <a:srgbClr val="8E8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goal is unclear, it asks one specific question rather than guessing.</a:t>
            </a:r>
            <a:endParaRPr lang="en-US" sz="2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983456"/>
            <a:ext cx="2012826" cy="266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842355" y="952500"/>
            <a:ext cx="106836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20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5139318" y="952500"/>
            <a:ext cx="21795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34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5585877" y="952500"/>
            <a:ext cx="1715036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Composition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143000" y="1814513"/>
            <a:ext cx="176022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DOCUMENTATION, ASSEMBLED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143000" y="2333625"/>
            <a:ext cx="17602200" cy="764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5400" kern="0" spc="-97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artifact is a monolithic template.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1143000" y="3314937"/>
            <a:ext cx="842391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143000" y="3776899"/>
            <a:ext cx="7887843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section's template. Lives at </a:t>
            </a:r>
            <a:r>
              <a:rPr lang="en-US" sz="2250" dirty="0">
                <a:solidFill>
                  <a:srgbClr val="19131F"/>
                </a:solidFill>
                <a:highlight>
                  <a:srgbClr val="EFF0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templates/blocks/&lt;stage&gt;/&lt;slug&gt;.md </a:t>
            </a:r>
            <a:r>
              <a:rPr lang="en-US" sz="2250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YAML frontmatter declaring its slug, the artifacts it can appear in, and an order hint.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1143000" y="5643799"/>
            <a:ext cx="842391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COMPOSITION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143000" y="6105762"/>
            <a:ext cx="7887843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YAML manifest under </a:t>
            </a:r>
            <a:r>
              <a:rPr lang="en-US" sz="2250" dirty="0">
                <a:solidFill>
                  <a:srgbClr val="19131F"/>
                </a:solidFill>
                <a:highlight>
                  <a:srgbClr val="EFF0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templates/compositions/ </a:t>
            </a:r>
            <a:r>
              <a:rPr lang="en-US" sz="2250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picks blocks for one specific artifact, in order, with conditional </a:t>
            </a:r>
            <a:r>
              <a:rPr lang="en-US" sz="2250" dirty="0">
                <a:solidFill>
                  <a:srgbClr val="19131F"/>
                </a:solidFill>
                <a:highlight>
                  <a:srgbClr val="EFF0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include-if </a:t>
            </a:r>
            <a:r>
              <a:rPr lang="en-US" sz="2250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driven by </a:t>
            </a:r>
            <a:r>
              <a:rPr lang="en-US" sz="2250" dirty="0">
                <a:solidFill>
                  <a:srgbClr val="19131F"/>
                </a:solidFill>
                <a:highlight>
                  <a:srgbClr val="EFF0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project.toml </a:t>
            </a:r>
            <a:r>
              <a:rPr lang="en-US" sz="2250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answers.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1143000" y="7972662"/>
            <a:ext cx="842391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PRINCIPLE 04 · COMPOSITION IS AUTHORITATIVE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143000" y="8434624"/>
            <a:ext cx="7887843" cy="1285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set of sections in any artifact is determined by the composition manifest, not by the agent. </a:t>
            </a:r>
            <a:r>
              <a:rPr lang="en-US" sz="2250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add or remove a section, edit the composition. Do not ad-hoc.</a:t>
            </a:r>
            <a:endParaRPr lang="en-US" sz="2250" dirty="0"/>
          </a:p>
        </p:txBody>
      </p:sp>
      <p:sp>
        <p:nvSpPr>
          <p:cNvPr id="14" name="Shape 11"/>
          <p:cNvSpPr/>
          <p:nvPr/>
        </p:nvSpPr>
        <p:spPr>
          <a:xfrm>
            <a:off x="9486900" y="3593902"/>
            <a:ext cx="7658100" cy="5512296"/>
          </a:xfrm>
          <a:prstGeom prst="roundRect">
            <a:avLst>
              <a:gd name="adj" fmla="val 1382"/>
            </a:avLst>
          </a:prstGeom>
          <a:solidFill>
            <a:srgbClr val="1913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9829800" y="3898702"/>
            <a:ext cx="7202043" cy="494079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1800" dirty="0">
                <a:solidFill>
                  <a:srgbClr val="FFFFFF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 </a:t>
            </a:r>
          </a:p>
          <a:p>
            <a:pPr marL="0" indent="0" algn="l">
              <a:lnSpc>
                <a:spcPct val="165000"/>
              </a:lnSpc>
              <a:buNone/>
            </a:pPr>
            <a:r>
              <a:rPr lang="en-US" sz="1800" dirty="0">
                <a:solidFill>
                  <a:srgbClr val="C89F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slug</a:t>
            </a:r>
            <a:r>
              <a:rPr lang="en-US" sz="1800" dirty="0">
                <a:solidFill>
                  <a:srgbClr val="FFFFFF"/>
                </a:solidFill>
                <a:highlight>
                  <a:srgbClr val="19131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      	</a:t>
            </a: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functional-requirements </a:t>
            </a:r>
          </a:p>
          <a:p>
            <a:pPr marL="0" indent="0" algn="l">
              <a:lnSpc>
                <a:spcPct val="165000"/>
              </a:lnSpc>
              <a:buNone/>
            </a:pPr>
            <a:r>
              <a:rPr lang="en-US" sz="1800" dirty="0">
                <a:solidFill>
                  <a:srgbClr val="C89F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r>
              <a:rPr lang="en-US" sz="1800" dirty="0">
                <a:solidFill>
                  <a:srgbClr val="FFFFFF"/>
                </a:solidFill>
                <a:highlight>
                  <a:srgbClr val="19131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     	</a:t>
            </a:r>
            <a:r>
              <a:rPr lang="en-US" sz="1800" dirty="0">
                <a:solidFill>
                  <a:srgbClr val="D0DF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"Functional Requirements" </a:t>
            </a:r>
          </a:p>
          <a:p>
            <a:pPr marL="0" indent="0" algn="l">
              <a:lnSpc>
                <a:spcPct val="165000"/>
              </a:lnSpc>
              <a:buNone/>
            </a:pPr>
            <a:r>
              <a:rPr lang="en-US" sz="1800" dirty="0">
                <a:solidFill>
                  <a:srgbClr val="C89F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applies-to</a:t>
            </a:r>
            <a:r>
              <a:rPr lang="en-US" sz="1800" dirty="0">
                <a:solidFill>
                  <a:srgbClr val="FFFFFF"/>
                </a:solidFill>
                <a:highlight>
                  <a:srgbClr val="19131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	</a:t>
            </a: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greenfield-req, </a:t>
            </a:r>
            <a:r>
              <a:rPr lang="en-US" sz="1800" dirty="0">
                <a:solidFill>
                  <a:srgbClr val="FFFFFF"/>
                </a:solidFill>
                <a:highlight>
                  <a:srgbClr val="19131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</a:t>
            </a:r>
          </a:p>
          <a:p>
            <a:pPr marL="0" indent="0" algn="l">
              <a:lnSpc>
                <a:spcPct val="16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		brownfield-spec, </a:t>
            </a:r>
            <a:r>
              <a:rPr lang="en-US" sz="1800" dirty="0">
                <a:solidFill>
                  <a:srgbClr val="FFFFFF"/>
                </a:solidFill>
                <a:highlight>
                  <a:srgbClr val="19131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</a:t>
            </a:r>
          </a:p>
          <a:p>
            <a:pPr marL="0" indent="0" algn="l">
              <a:lnSpc>
                <a:spcPct val="16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		quick-dev </a:t>
            </a:r>
          </a:p>
          <a:p>
            <a:pPr marL="0" indent="0" algn="l">
              <a:lnSpc>
                <a:spcPct val="165000"/>
              </a:lnSpc>
              <a:buNone/>
            </a:pPr>
            <a:r>
              <a:rPr lang="en-US" sz="1800" dirty="0">
                <a:solidFill>
                  <a:srgbClr val="C89F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decided-by</a:t>
            </a:r>
            <a:r>
              <a:rPr lang="en-US" sz="1800" dirty="0">
                <a:solidFill>
                  <a:srgbClr val="FFFFFF"/>
                </a:solidFill>
                <a:highlight>
                  <a:srgbClr val="19131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	</a:t>
            </a: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product-owner </a:t>
            </a:r>
          </a:p>
          <a:p>
            <a:pPr marL="0" indent="0" algn="l">
              <a:lnSpc>
                <a:spcPct val="165000"/>
              </a:lnSpc>
              <a:buNone/>
            </a:pPr>
            <a:r>
              <a:rPr lang="en-US" sz="1800" dirty="0">
                <a:solidFill>
                  <a:srgbClr val="C89F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optional</a:t>
            </a:r>
            <a:r>
              <a:rPr lang="en-US" sz="1800" dirty="0">
                <a:solidFill>
                  <a:srgbClr val="FFFFFF"/>
                </a:solidFill>
                <a:highlight>
                  <a:srgbClr val="19131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  	</a:t>
            </a: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 </a:t>
            </a:r>
          </a:p>
          <a:p>
            <a:pPr marL="0" indent="0" algn="l">
              <a:lnSpc>
                <a:spcPct val="165000"/>
              </a:lnSpc>
              <a:buNone/>
            </a:pPr>
            <a:r>
              <a:rPr lang="en-US" sz="1800" dirty="0">
                <a:solidFill>
                  <a:srgbClr val="C89F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order-hint</a:t>
            </a:r>
            <a:r>
              <a:rPr lang="en-US" sz="1800" dirty="0">
                <a:solidFill>
                  <a:srgbClr val="FFFFFF"/>
                </a:solidFill>
                <a:highlight>
                  <a:srgbClr val="19131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	</a:t>
            </a: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</a:t>
            </a:r>
          </a:p>
          <a:p>
            <a:pPr marL="0" indent="0" algn="l">
              <a:lnSpc>
                <a:spcPct val="165000"/>
              </a:lnSpc>
              <a:buNone/>
            </a:pPr>
            <a:r>
              <a:rPr lang="en-US" sz="1800" dirty="0">
                <a:solidFill>
                  <a:srgbClr val="FFFFFF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 </a:t>
            </a:r>
          </a:p>
          <a:p>
            <a:pPr marL="0" indent="0" algn="l">
              <a:lnSpc>
                <a:spcPct val="165000"/>
              </a:lnSpc>
              <a:buNone/>
            </a:pPr>
            <a:r>
              <a:rPr lang="en-US" sz="1800" dirty="0">
                <a:solidFill>
                  <a:srgbClr val="6F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4. Functional Requirements </a:t>
            </a:r>
          </a:p>
          <a:p>
            <a:pPr marL="0" indent="0" algn="l">
              <a:lnSpc>
                <a:spcPct val="165000"/>
              </a:lnSpc>
              <a:buNone/>
            </a:pPr>
            <a:r>
              <a:rPr lang="en-US" sz="1800" dirty="0">
                <a:solidFill>
                  <a:srgbClr val="FFFFFF"/>
                </a:solidFill>
                <a:highlight>
                  <a:srgbClr val="19131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…template body with </a:t>
            </a:r>
            <a:r>
              <a:rPr lang="en-US" sz="1800" dirty="0">
                <a:solidFill>
                  <a:srgbClr val="D0DF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{{placeholder}}</a:t>
            </a:r>
            <a:r>
              <a:rPr lang="en-US" sz="1800" dirty="0">
                <a:solidFill>
                  <a:srgbClr val="FFFFFF"/>
                </a:solidFill>
                <a:highlight>
                  <a:srgbClr val="19131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markers…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983456"/>
            <a:ext cx="2012826" cy="266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708508" y="952500"/>
            <a:ext cx="106836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20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4005471" y="952500"/>
            <a:ext cx="21795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34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4452029" y="952500"/>
            <a:ext cx="2962268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Vary by Composition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143000" y="1814513"/>
            <a:ext cx="176022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 TRUNK, DIFFERENT ARTIFACTS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143000" y="2333625"/>
            <a:ext cx="16482060" cy="14918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5400" kern="0" spc="-97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 level is a composition choice, not a template fork.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1143000" y="4396978"/>
            <a:ext cx="829818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GREENFIELD REQUIREMENTS PACKAGE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143000" y="4992291"/>
            <a:ext cx="8298180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9000" kern="0" spc="-270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0" dirty="0"/>
          </a:p>
        </p:txBody>
      </p:sp>
      <p:sp>
        <p:nvSpPr>
          <p:cNvPr id="10" name="Text 7"/>
          <p:cNvSpPr/>
          <p:nvPr/>
        </p:nvSpPr>
        <p:spPr>
          <a:xfrm>
            <a:off x="1143000" y="6287691"/>
            <a:ext cx="829818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blocks — the heaviest forward-engineering artifact.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1143000" y="7183041"/>
            <a:ext cx="829818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8E8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Stakeholders, journeys, NFRs, data, permissions, traceability…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143000" y="8162181"/>
            <a:ext cx="342900" cy="609600"/>
          </a:xfrm>
          <a:prstGeom prst="rect">
            <a:avLst/>
          </a:prstGeom>
          <a:solidFill>
            <a:srgbClr val="334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543050" y="8162181"/>
            <a:ext cx="342900" cy="609600"/>
          </a:xfrm>
          <a:prstGeom prst="rect">
            <a:avLst/>
          </a:prstGeom>
          <a:solidFill>
            <a:srgbClr val="3F3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943100" y="8162181"/>
            <a:ext cx="342900" cy="609600"/>
          </a:xfrm>
          <a:prstGeom prst="rect">
            <a:avLst/>
          </a:prstGeom>
          <a:solidFill>
            <a:srgbClr val="3F3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2343150" y="8162181"/>
            <a:ext cx="342900" cy="609600"/>
          </a:xfrm>
          <a:prstGeom prst="rect">
            <a:avLst/>
          </a:prstGeom>
          <a:solidFill>
            <a:srgbClr val="3F3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2743200" y="8162181"/>
            <a:ext cx="342900" cy="609600"/>
          </a:xfrm>
          <a:prstGeom prst="rect">
            <a:avLst/>
          </a:prstGeom>
          <a:solidFill>
            <a:srgbClr val="3F3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3143250" y="8162181"/>
            <a:ext cx="342900" cy="609600"/>
          </a:xfrm>
          <a:prstGeom prst="rect">
            <a:avLst/>
          </a:prstGeom>
          <a:solidFill>
            <a:srgbClr val="3F3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543300" y="8162181"/>
            <a:ext cx="342900" cy="609600"/>
          </a:xfrm>
          <a:prstGeom prst="rect">
            <a:avLst/>
          </a:prstGeom>
          <a:solidFill>
            <a:srgbClr val="3F3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3943350" y="8162181"/>
            <a:ext cx="342900" cy="609600"/>
          </a:xfrm>
          <a:prstGeom prst="rect">
            <a:avLst/>
          </a:prstGeom>
          <a:solidFill>
            <a:srgbClr val="3F3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343400" y="8162181"/>
            <a:ext cx="342900" cy="609600"/>
          </a:xfrm>
          <a:prstGeom prst="rect">
            <a:avLst/>
          </a:prstGeom>
          <a:solidFill>
            <a:srgbClr val="3F3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743450" y="8162181"/>
            <a:ext cx="342900" cy="609600"/>
          </a:xfrm>
          <a:prstGeom prst="rect">
            <a:avLst/>
          </a:prstGeom>
          <a:solidFill>
            <a:srgbClr val="3F3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5143500" y="8162181"/>
            <a:ext cx="342900" cy="609600"/>
          </a:xfrm>
          <a:prstGeom prst="rect">
            <a:avLst/>
          </a:prstGeom>
          <a:solidFill>
            <a:srgbClr val="3F3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543550" y="8162181"/>
            <a:ext cx="342900" cy="609600"/>
          </a:xfrm>
          <a:prstGeom prst="rect">
            <a:avLst/>
          </a:prstGeom>
          <a:solidFill>
            <a:srgbClr val="3F3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5943600" y="8162181"/>
            <a:ext cx="342900" cy="609600"/>
          </a:xfrm>
          <a:prstGeom prst="rect">
            <a:avLst/>
          </a:prstGeom>
          <a:solidFill>
            <a:srgbClr val="3F3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6343650" y="8162181"/>
            <a:ext cx="342900" cy="609600"/>
          </a:xfrm>
          <a:prstGeom prst="rect">
            <a:avLst/>
          </a:prstGeom>
          <a:solidFill>
            <a:srgbClr val="3F3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6743700" y="8162181"/>
            <a:ext cx="342900" cy="609600"/>
          </a:xfrm>
          <a:prstGeom prst="rect">
            <a:avLst/>
          </a:prstGeom>
          <a:solidFill>
            <a:srgbClr val="3F3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7143750" y="8162181"/>
            <a:ext cx="342900" cy="609600"/>
          </a:xfrm>
          <a:prstGeom prst="rect">
            <a:avLst/>
          </a:prstGeom>
          <a:solidFill>
            <a:srgbClr val="3F3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7543800" y="8162181"/>
            <a:ext cx="342900" cy="609600"/>
          </a:xfrm>
          <a:prstGeom prst="rect">
            <a:avLst/>
          </a:prstGeom>
          <a:solidFill>
            <a:srgbClr val="3F3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7943850" y="8162181"/>
            <a:ext cx="342900" cy="609600"/>
          </a:xfrm>
          <a:prstGeom prst="rect">
            <a:avLst/>
          </a:prstGeom>
          <a:solidFill>
            <a:srgbClr val="3F3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8343900" y="8162181"/>
            <a:ext cx="342900" cy="609600"/>
          </a:xfrm>
          <a:prstGeom prst="rect">
            <a:avLst/>
          </a:prstGeom>
          <a:solidFill>
            <a:srgbClr val="3F3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1143000" y="8828931"/>
            <a:ext cx="342900" cy="609600"/>
          </a:xfrm>
          <a:prstGeom prst="rect">
            <a:avLst/>
          </a:prstGeom>
          <a:solidFill>
            <a:srgbClr val="3F3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1543050" y="8828931"/>
            <a:ext cx="342900" cy="609600"/>
          </a:xfrm>
          <a:prstGeom prst="rect">
            <a:avLst/>
          </a:prstGeom>
          <a:solidFill>
            <a:srgbClr val="3F3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1943100" y="8828931"/>
            <a:ext cx="342900" cy="609600"/>
          </a:xfrm>
          <a:prstGeom prst="rect">
            <a:avLst/>
          </a:prstGeom>
          <a:solidFill>
            <a:srgbClr val="3F3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9601200" y="4396978"/>
            <a:ext cx="829818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QUICK-DEV SPEC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9601200" y="4992291"/>
            <a:ext cx="8298180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9000" kern="0" spc="-270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0" dirty="0"/>
          </a:p>
        </p:txBody>
      </p:sp>
      <p:sp>
        <p:nvSpPr>
          <p:cNvPr id="36" name="Text 33"/>
          <p:cNvSpPr/>
          <p:nvPr/>
        </p:nvSpPr>
        <p:spPr>
          <a:xfrm>
            <a:off x="9601200" y="6287691"/>
            <a:ext cx="829818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blocks — the lightest spec the framework offers.</a:t>
            </a:r>
            <a:endParaRPr lang="en-US" sz="2250" dirty="0"/>
          </a:p>
        </p:txBody>
      </p:sp>
      <p:sp>
        <p:nvSpPr>
          <p:cNvPr id="37" name="Text 34"/>
          <p:cNvSpPr/>
          <p:nvPr/>
        </p:nvSpPr>
        <p:spPr>
          <a:xfrm>
            <a:off x="9601200" y="7183041"/>
            <a:ext cx="7770114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8E8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Overview, executive-summary, FR, acceptance, assumptions, glossary, change-log.</a:t>
            </a:r>
            <a:endParaRPr lang="en-US" sz="1800" dirty="0"/>
          </a:p>
        </p:txBody>
      </p:sp>
      <p:sp>
        <p:nvSpPr>
          <p:cNvPr id="38" name="Shape 35"/>
          <p:cNvSpPr/>
          <p:nvPr/>
        </p:nvSpPr>
        <p:spPr>
          <a:xfrm>
            <a:off x="9601200" y="8493621"/>
            <a:ext cx="342900" cy="609600"/>
          </a:xfrm>
          <a:prstGeom prst="rect">
            <a:avLst/>
          </a:prstGeom>
          <a:solidFill>
            <a:srgbClr val="3F3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10001250" y="8493621"/>
            <a:ext cx="342900" cy="609600"/>
          </a:xfrm>
          <a:prstGeom prst="rect">
            <a:avLst/>
          </a:prstGeom>
          <a:solidFill>
            <a:srgbClr val="3F3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10401300" y="8493621"/>
            <a:ext cx="342900" cy="609600"/>
          </a:xfrm>
          <a:prstGeom prst="rect">
            <a:avLst/>
          </a:prstGeom>
          <a:solidFill>
            <a:srgbClr val="334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10801350" y="8493621"/>
            <a:ext cx="342900" cy="609600"/>
          </a:xfrm>
          <a:prstGeom prst="rect">
            <a:avLst/>
          </a:prstGeom>
          <a:solidFill>
            <a:srgbClr val="3F3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11201400" y="8493621"/>
            <a:ext cx="342900" cy="609600"/>
          </a:xfrm>
          <a:prstGeom prst="rect">
            <a:avLst/>
          </a:prstGeom>
          <a:solidFill>
            <a:srgbClr val="3F3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11601450" y="8493621"/>
            <a:ext cx="342900" cy="609600"/>
          </a:xfrm>
          <a:prstGeom prst="rect">
            <a:avLst/>
          </a:prstGeom>
          <a:solidFill>
            <a:srgbClr val="3F3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12001500" y="8493621"/>
            <a:ext cx="342900" cy="609600"/>
          </a:xfrm>
          <a:prstGeom prst="rect">
            <a:avLst/>
          </a:prstGeom>
          <a:solidFill>
            <a:srgbClr val="3F3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2"/>
          <p:cNvSpPr/>
          <p:nvPr/>
        </p:nvSpPr>
        <p:spPr>
          <a:xfrm>
            <a:off x="1143000" y="9591900"/>
            <a:ext cx="16002000" cy="662880"/>
          </a:xfrm>
          <a:prstGeom prst="rect">
            <a:avLst/>
          </a:prstGeom>
          <a:solidFill>
            <a:srgbClr val="F5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3"/>
          <p:cNvSpPr/>
          <p:nvPr/>
        </p:nvSpPr>
        <p:spPr>
          <a:xfrm>
            <a:off x="1143000" y="9591900"/>
            <a:ext cx="38100" cy="662880"/>
          </a:xfrm>
          <a:prstGeom prst="rect">
            <a:avLst/>
          </a:prstGeom>
          <a:solidFill>
            <a:srgbClr val="334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1428750" y="9712821"/>
            <a:ext cx="15519292" cy="390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</a:t>
            </a:r>
            <a:r>
              <a:rPr lang="en-US" sz="1800" dirty="0">
                <a:solidFill>
                  <a:srgbClr val="19131F"/>
                </a:solidFill>
                <a:highlight>
                  <a:srgbClr val="EFF0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functional-requirements.md </a:t>
            </a:r>
            <a:r>
              <a:rPr lang="en-US" sz="1800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sits in both — it just declares which composition slugs it is willing to appear in.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9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983456"/>
            <a:ext cx="2012826" cy="266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51075" y="952500"/>
            <a:ext cx="106836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20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5848037" y="952500"/>
            <a:ext cx="21795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34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6294596" y="952500"/>
            <a:ext cx="926604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KB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143000" y="1814513"/>
            <a:ext cx="176022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FFFFFF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CENTRAL USE CASE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143000" y="2333625"/>
            <a:ext cx="14716125" cy="14918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5400" kern="0" spc="-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markdown knowledge base, sibling to your source repos.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1143000" y="4549378"/>
            <a:ext cx="5532120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9000" kern="0" spc="-270" dirty="0">
                <a:solidFill>
                  <a:srgbClr val="334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0" dirty="0"/>
          </a:p>
        </p:txBody>
      </p:sp>
      <p:sp>
        <p:nvSpPr>
          <p:cNvPr id="9" name="Text 6"/>
          <p:cNvSpPr/>
          <p:nvPr/>
        </p:nvSpPr>
        <p:spPr>
          <a:xfrm>
            <a:off x="1143000" y="5749528"/>
            <a:ext cx="5532120" cy="422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700" kern="0" spc="-3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Lives in its own repo.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1143000" y="6304955"/>
            <a:ext cx="5180076" cy="2038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FFFFFF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Declared in </a:t>
            </a:r>
            <a:r>
              <a:rPr lang="en-US" sz="2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project.toml </a:t>
            </a:r>
            <a:r>
              <a:rPr lang="en-US" sz="2250" dirty="0">
                <a:solidFill>
                  <a:srgbClr val="FFFFFF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</a:t>
            </a:r>
            <a:r>
              <a:rPr lang="en-US" sz="2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[project.paths] knowledge_base_path </a:t>
            </a:r>
            <a:r>
              <a:rPr lang="en-US" sz="2250" dirty="0">
                <a:solidFill>
                  <a:srgbClr val="FFFFFF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Sibling to the framework folder and source repos.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6629400" y="4549378"/>
            <a:ext cx="5532120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9000" kern="0" spc="-270" dirty="0">
                <a:solidFill>
                  <a:srgbClr val="334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0" dirty="0"/>
          </a:p>
        </p:txBody>
      </p:sp>
      <p:sp>
        <p:nvSpPr>
          <p:cNvPr id="12" name="Text 9"/>
          <p:cNvSpPr/>
          <p:nvPr/>
        </p:nvSpPr>
        <p:spPr>
          <a:xfrm>
            <a:off x="6629400" y="5749528"/>
            <a:ext cx="5532120" cy="422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700" kern="0" spc="-3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Markdown-first.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6629400" y="6304955"/>
            <a:ext cx="5180076" cy="1685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FFFFFF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Traversed by agentic </a:t>
            </a:r>
            <a:r>
              <a:rPr lang="en-US" sz="2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</a:t>
            </a:r>
            <a:r>
              <a:rPr lang="en-US" sz="2250" dirty="0">
                <a:solidFill>
                  <a:srgbClr val="FFFFFF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r>
              <a:rPr lang="en-US" sz="2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grep </a:t>
            </a:r>
            <a:r>
              <a:rPr lang="en-US" sz="2250" dirty="0">
                <a:solidFill>
                  <a:srgbClr val="FFFFFF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r>
              <a:rPr lang="en-US" sz="2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 </a:t>
            </a:r>
            <a:r>
              <a:rPr lang="en-US" sz="2250" dirty="0">
                <a:solidFill>
                  <a:srgbClr val="FFFFFF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per-component frontmatter. </a:t>
            </a: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vector DB. No embeddings.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12115800" y="4549378"/>
            <a:ext cx="5532120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9000" kern="0" spc="-270" dirty="0">
                <a:solidFill>
                  <a:srgbClr val="334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0" dirty="0"/>
          </a:p>
        </p:txBody>
      </p:sp>
      <p:sp>
        <p:nvSpPr>
          <p:cNvPr id="15" name="Text 12"/>
          <p:cNvSpPr/>
          <p:nvPr/>
        </p:nvSpPr>
        <p:spPr>
          <a:xfrm>
            <a:off x="12115800" y="5749528"/>
            <a:ext cx="5532120" cy="422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700" kern="0" spc="-3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schemas are the index.</a:t>
            </a:r>
            <a:endParaRPr lang="en-US" sz="2700" dirty="0"/>
          </a:p>
        </p:txBody>
      </p:sp>
      <p:sp>
        <p:nvSpPr>
          <p:cNvPr id="16" name="Text 13"/>
          <p:cNvSpPr/>
          <p:nvPr/>
        </p:nvSpPr>
        <p:spPr>
          <a:xfrm>
            <a:off x="12115800" y="6304955"/>
            <a:ext cx="5180076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FFFFFF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</a:t>
            </a:r>
            <a:r>
              <a:rPr lang="en-US" sz="2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ARCHITECTURE.md </a:t>
            </a:r>
            <a:r>
              <a:rPr lang="en-US" sz="2250" dirty="0">
                <a:solidFill>
                  <a:srgbClr val="FFFFFF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(5–15 KB) loads first. </a:t>
            </a:r>
            <a:r>
              <a:rPr lang="en-US" sz="2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navigate-knowledge-base </a:t>
            </a:r>
            <a:r>
              <a:rPr lang="en-US" sz="2250" dirty="0">
                <a:solidFill>
                  <a:srgbClr val="FFFFFF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selects the minimal component set per feature.</a:t>
            </a:r>
            <a:endParaRPr lang="en-US" sz="2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983456"/>
            <a:ext cx="2012826" cy="266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566824" y="952500"/>
            <a:ext cx="106836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20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3863786" y="952500"/>
            <a:ext cx="21795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34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4310345" y="952500"/>
            <a:ext cx="311812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 01 · Brownfield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143000" y="1814513"/>
            <a:ext cx="176022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 01 OF 03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143000" y="2333625"/>
            <a:ext cx="17602200" cy="764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5400" kern="0" spc="-97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Reverse-engineer existing code, then build the KB.</a:t>
            </a:r>
            <a:endParaRPr lang="en-US" sz="5400" dirty="0"/>
          </a:p>
        </p:txBody>
      </p:sp>
      <p:sp>
        <p:nvSpPr>
          <p:cNvPr id="8" name="Shape 5"/>
          <p:cNvSpPr/>
          <p:nvPr/>
        </p:nvSpPr>
        <p:spPr>
          <a:xfrm>
            <a:off x="1143000" y="3593902"/>
            <a:ext cx="2166417" cy="538163"/>
          </a:xfrm>
          <a:prstGeom prst="roundRect">
            <a:avLst>
              <a:gd name="adj" fmla="val 708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1913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304925" y="3698677"/>
            <a:ext cx="1918767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913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start-project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3461817" y="3646289"/>
            <a:ext cx="265212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334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3803228" y="3593902"/>
            <a:ext cx="2875062" cy="538163"/>
          </a:xfrm>
          <a:prstGeom prst="roundRect">
            <a:avLst>
              <a:gd name="adj" fmla="val 708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1913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965153" y="3698677"/>
            <a:ext cx="2637464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913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analyze-repository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830690" y="3646289"/>
            <a:ext cx="265212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334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7172102" y="3593902"/>
            <a:ext cx="3867150" cy="538163"/>
          </a:xfrm>
          <a:prstGeom prst="roundRect">
            <a:avLst>
              <a:gd name="adj" fmla="val 7080"/>
            </a:avLst>
          </a:prstGeom>
          <a:solidFill>
            <a:srgbClr val="3348FF"/>
          </a:solidFill>
          <a:ln w="9525">
            <a:solidFill>
              <a:srgbClr val="334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334027" y="3698677"/>
            <a:ext cx="365931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reverse-engineer-&lt;domain&gt;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1191652" y="3646289"/>
            <a:ext cx="265212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334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11533063" y="3593902"/>
            <a:ext cx="3158505" cy="538163"/>
          </a:xfrm>
          <a:prstGeom prst="roundRect">
            <a:avLst>
              <a:gd name="adj" fmla="val 708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1913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1694988" y="3698677"/>
            <a:ext cx="292941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913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build-knowledge-base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4843968" y="3646289"/>
            <a:ext cx="265212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334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Shape 17"/>
          <p:cNvSpPr/>
          <p:nvPr/>
        </p:nvSpPr>
        <p:spPr>
          <a:xfrm>
            <a:off x="1143000" y="4284464"/>
            <a:ext cx="2449860" cy="538163"/>
          </a:xfrm>
          <a:prstGeom prst="roundRect">
            <a:avLst>
              <a:gd name="adj" fmla="val 708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1913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1304925" y="4389239"/>
            <a:ext cx="220221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913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verify-coverage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3745260" y="4336852"/>
            <a:ext cx="265212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334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Shape 20"/>
          <p:cNvSpPr/>
          <p:nvPr/>
        </p:nvSpPr>
        <p:spPr>
          <a:xfrm>
            <a:off x="4086671" y="4284464"/>
            <a:ext cx="4292352" cy="538163"/>
          </a:xfrm>
          <a:prstGeom prst="roundRect">
            <a:avLst>
              <a:gd name="adj" fmla="val 708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1913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248596" y="4389239"/>
            <a:ext cx="409727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913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requirements / design / impl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8531423" y="4336852"/>
            <a:ext cx="265212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334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400" dirty="0"/>
          </a:p>
        </p:txBody>
      </p:sp>
      <p:sp>
        <p:nvSpPr>
          <p:cNvPr id="26" name="Shape 23"/>
          <p:cNvSpPr/>
          <p:nvPr/>
        </p:nvSpPr>
        <p:spPr>
          <a:xfrm>
            <a:off x="8872835" y="4284464"/>
            <a:ext cx="2875062" cy="538163"/>
          </a:xfrm>
          <a:prstGeom prst="roundRect">
            <a:avLst>
              <a:gd name="adj" fmla="val 708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1913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9034760" y="4389239"/>
            <a:ext cx="2637464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913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execute-increments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11900297" y="4336852"/>
            <a:ext cx="265212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334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400" dirty="0"/>
          </a:p>
        </p:txBody>
      </p:sp>
      <p:sp>
        <p:nvSpPr>
          <p:cNvPr id="29" name="Shape 26"/>
          <p:cNvSpPr/>
          <p:nvPr/>
        </p:nvSpPr>
        <p:spPr>
          <a:xfrm>
            <a:off x="12241709" y="4284464"/>
            <a:ext cx="1599456" cy="538163"/>
          </a:xfrm>
          <a:prstGeom prst="roundRect">
            <a:avLst>
              <a:gd name="adj" fmla="val 708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1913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12403634" y="4389239"/>
            <a:ext cx="1351806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913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create-pr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1143000" y="5356027"/>
            <a:ext cx="83820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ANALYZE-REPOSITORY DISPATCHES TO ONE OF TEN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942975" y="5856089"/>
            <a:ext cx="7896225" cy="327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reverse-engineer-api · -api-framework</a:t>
            </a:r>
            <a:endParaRPr lang="en-US" sz="22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reverse-engineer-web-app · -ui-framework</a:t>
            </a:r>
            <a:endParaRPr lang="en-US" sz="22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reverse-engineer-database</a:t>
            </a:r>
            <a:endParaRPr lang="en-US" sz="22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reverse-engineer-mobile-app · -mobile-framework</a:t>
            </a:r>
            <a:endParaRPr lang="en-US" sz="22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reverse-engineer-cobol-program · -copybook-library · -jcl-job</a:t>
            </a:r>
            <a:endParaRPr lang="en-US" sz="2250" dirty="0"/>
          </a:p>
        </p:txBody>
      </p:sp>
      <p:sp>
        <p:nvSpPr>
          <p:cNvPr id="33" name="Text 30"/>
          <p:cNvSpPr/>
          <p:nvPr/>
        </p:nvSpPr>
        <p:spPr>
          <a:xfrm>
            <a:off x="9525000" y="5356027"/>
            <a:ext cx="83820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OUTPUT DOCUMENTS PER REPO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9525000" y="5856089"/>
            <a:ext cx="8382000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A </a:t>
            </a:r>
            <a:r>
              <a:rPr lang="en-US" sz="2250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internal implementation docs (how it's built).</a:t>
            </a:r>
            <a:endParaRPr lang="en-US" sz="2250" dirty="0"/>
          </a:p>
        </p:txBody>
      </p:sp>
      <p:sp>
        <p:nvSpPr>
          <p:cNvPr id="35" name="Text 32"/>
          <p:cNvSpPr/>
          <p:nvPr/>
        </p:nvSpPr>
        <p:spPr>
          <a:xfrm>
            <a:off x="9525000" y="6451402"/>
            <a:ext cx="8382000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B </a:t>
            </a:r>
            <a:r>
              <a:rPr lang="en-US" sz="2250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consumer-facing docs (how to use it).</a:t>
            </a:r>
            <a:endParaRPr lang="en-US" sz="2250" dirty="0"/>
          </a:p>
        </p:txBody>
      </p:sp>
      <p:sp>
        <p:nvSpPr>
          <p:cNvPr id="36" name="Text 33"/>
          <p:cNvSpPr/>
          <p:nvPr/>
        </p:nvSpPr>
        <p:spPr>
          <a:xfrm>
            <a:off x="9525000" y="7103864"/>
            <a:ext cx="7848600" cy="7105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8E8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land in a per-repo folder under </a:t>
            </a:r>
            <a:r>
              <a:rPr lang="en-US" sz="1800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source-docs/ </a:t>
            </a:r>
            <a:r>
              <a:rPr lang="en-US" sz="1800" dirty="0">
                <a:solidFill>
                  <a:srgbClr val="8E8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 build skill then aggregates them into the cross-repo KB.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983456"/>
            <a:ext cx="2012826" cy="266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566824" y="952500"/>
            <a:ext cx="106836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20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3863786" y="952500"/>
            <a:ext cx="21795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34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4310345" y="952500"/>
            <a:ext cx="311812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 02 · Greenfield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143000" y="1814513"/>
            <a:ext cx="176022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 02 OF 03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143000" y="2333625"/>
            <a:ext cx="16482060" cy="14918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5400" kern="0" spc="-97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SDLC, with required review gates between every stage.</a:t>
            </a:r>
            <a:endParaRPr lang="en-US" sz="5400" dirty="0"/>
          </a:p>
        </p:txBody>
      </p:sp>
      <p:sp>
        <p:nvSpPr>
          <p:cNvPr id="8" name="Shape 5"/>
          <p:cNvSpPr/>
          <p:nvPr/>
        </p:nvSpPr>
        <p:spPr>
          <a:xfrm>
            <a:off x="1143000" y="4320778"/>
            <a:ext cx="3829050" cy="3439344"/>
          </a:xfrm>
          <a:prstGeom prst="rect">
            <a:avLst/>
          </a:prstGeom>
          <a:solidFill>
            <a:srgbClr val="FFFFFF"/>
          </a:solidFill>
          <a:ln w="9525">
            <a:solidFill>
              <a:srgbClr val="1913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419225" y="4635103"/>
            <a:ext cx="360426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334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01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419225" y="5135166"/>
            <a:ext cx="3604260" cy="373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kern="0" spc="-24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package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419225" y="5641851"/>
            <a:ext cx="3374898" cy="1032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Stakeholders, journeys, FR &amp; NFR, data, permissions, traceability.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419225" y="6826672"/>
            <a:ext cx="3374898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create-requirements-package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200650" y="4320778"/>
            <a:ext cx="3829050" cy="3439344"/>
          </a:xfrm>
          <a:prstGeom prst="rect">
            <a:avLst/>
          </a:prstGeom>
          <a:solidFill>
            <a:srgbClr val="FFFFFF"/>
          </a:solidFill>
          <a:ln w="9525">
            <a:solidFill>
              <a:srgbClr val="1913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476875" y="4635103"/>
            <a:ext cx="360426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334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02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476875" y="5135166"/>
            <a:ext cx="3604260" cy="373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kern="0" spc="-24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package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5476875" y="5641851"/>
            <a:ext cx="3374898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Architecture, decision records, interface contracts, data design.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476875" y="7155284"/>
            <a:ext cx="360426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create-design-package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9258300" y="4320778"/>
            <a:ext cx="3829050" cy="3439344"/>
          </a:xfrm>
          <a:prstGeom prst="rect">
            <a:avLst/>
          </a:prstGeom>
          <a:solidFill>
            <a:srgbClr val="FFFFFF"/>
          </a:solidFill>
          <a:ln w="9525">
            <a:solidFill>
              <a:srgbClr val="1913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9534525" y="4635103"/>
            <a:ext cx="360426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334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03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9534525" y="5135166"/>
            <a:ext cx="3604260" cy="373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kern="0" spc="-24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package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9534525" y="5641851"/>
            <a:ext cx="3374898" cy="1051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Decomposes design into </a:t>
            </a:r>
            <a:r>
              <a:rPr lang="en-US" sz="1800" dirty="0">
                <a:solidFill>
                  <a:srgbClr val="19131F"/>
                </a:solidFill>
                <a:highlight>
                  <a:srgbClr val="EFF0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INC-XXX </a:t>
            </a:r>
            <a:r>
              <a:rPr lang="en-US" sz="1800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increments — canonical 8-section shape.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9534525" y="6826672"/>
            <a:ext cx="3374898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create-implementation-package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13315950" y="4320778"/>
            <a:ext cx="3829050" cy="3439344"/>
          </a:xfrm>
          <a:prstGeom prst="rect">
            <a:avLst/>
          </a:prstGeom>
          <a:solidFill>
            <a:srgbClr val="FFFFFF"/>
          </a:solidFill>
          <a:ln w="9525">
            <a:solidFill>
              <a:srgbClr val="1913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13592175" y="4635103"/>
            <a:ext cx="360426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334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04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3592175" y="5135166"/>
            <a:ext cx="3604260" cy="373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kern="0" spc="-24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&amp; PR</a:t>
            </a:r>
            <a:endParaRPr lang="en-US" sz="2400" dirty="0"/>
          </a:p>
        </p:txBody>
      </p:sp>
      <p:sp>
        <p:nvSpPr>
          <p:cNvPr id="26" name="Text 23"/>
          <p:cNvSpPr/>
          <p:nvPr/>
        </p:nvSpPr>
        <p:spPr>
          <a:xfrm>
            <a:off x="13592175" y="5641851"/>
            <a:ext cx="3374898" cy="1032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Per-increment closing skill updates the KB. Flow closes with create-pr.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13592175" y="7155284"/>
            <a:ext cx="360426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execute-increments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1143000" y="8293522"/>
            <a:ext cx="16002000" cy="1281113"/>
          </a:xfrm>
          <a:prstGeom prst="rect">
            <a:avLst/>
          </a:prstGeom>
          <a:solidFill>
            <a:srgbClr val="F5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1143000" y="8293522"/>
            <a:ext cx="38100" cy="1281113"/>
          </a:xfrm>
          <a:prstGeom prst="rect">
            <a:avLst/>
          </a:prstGeom>
          <a:solidFill>
            <a:srgbClr val="334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1485900" y="8522122"/>
            <a:ext cx="15814929" cy="862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stage produces a </a:t>
            </a:r>
            <a:r>
              <a:rPr lang="en-US" sz="2250" b="1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</a:t>
            </a:r>
            <a:r>
              <a:rPr lang="en-US" sz="2250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framework's term for a stage-level artifact — gated by a paired review skill before the next stage may begin.</a:t>
            </a:r>
            <a:endParaRPr lang="en-US" sz="2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983456"/>
            <a:ext cx="2012826" cy="266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708508" y="952500"/>
            <a:ext cx="106836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20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4005471" y="952500"/>
            <a:ext cx="21795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34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4452029" y="952500"/>
            <a:ext cx="2962268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 03 · Quick-Dev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143000" y="1814513"/>
            <a:ext cx="176022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 03 OF 03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143000" y="2333625"/>
            <a:ext cx="14716125" cy="14918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5400" kern="0" spc="-97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rapid path for small changes — no full requirements or design package.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1143000" y="3935906"/>
            <a:ext cx="4715359" cy="4238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FLOW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143000" y="4493119"/>
            <a:ext cx="2166417" cy="538163"/>
          </a:xfrm>
          <a:prstGeom prst="roundRect">
            <a:avLst>
              <a:gd name="adj" fmla="val 708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1913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304925" y="4597894"/>
            <a:ext cx="1918767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913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start-project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143000" y="5087141"/>
            <a:ext cx="265212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334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1143000" y="5591887"/>
            <a:ext cx="3300264" cy="538163"/>
          </a:xfrm>
          <a:prstGeom prst="roundRect">
            <a:avLst>
              <a:gd name="adj" fmla="val 708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1913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304925" y="5696662"/>
            <a:ext cx="3075422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913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document-quick-change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143000" y="6201407"/>
            <a:ext cx="265212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334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1143000" y="6706153"/>
            <a:ext cx="2733303" cy="538163"/>
          </a:xfrm>
          <a:prstGeom prst="roundRect">
            <a:avLst>
              <a:gd name="adj" fmla="val 708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1913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304925" y="6810928"/>
            <a:ext cx="2491452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913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plan-quick-change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143000" y="7315673"/>
            <a:ext cx="265212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334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1143000" y="7820419"/>
            <a:ext cx="3158505" cy="538163"/>
          </a:xfrm>
          <a:prstGeom prst="roundRect">
            <a:avLst>
              <a:gd name="adj" fmla="val 708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1913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304925" y="7925194"/>
            <a:ext cx="292941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913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execute-quick-change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143000" y="8429939"/>
            <a:ext cx="265212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334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2400" dirty="0"/>
          </a:p>
        </p:txBody>
      </p:sp>
      <p:sp>
        <p:nvSpPr>
          <p:cNvPr id="21" name="Shape 18"/>
          <p:cNvSpPr/>
          <p:nvPr/>
        </p:nvSpPr>
        <p:spPr>
          <a:xfrm>
            <a:off x="1143000" y="8934685"/>
            <a:ext cx="1599456" cy="538163"/>
          </a:xfrm>
          <a:prstGeom prst="roundRect">
            <a:avLst>
              <a:gd name="adj" fmla="val 708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1913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1304925" y="9039460"/>
            <a:ext cx="1351806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913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create-pr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9601200" y="3935906"/>
            <a:ext cx="829818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COMBINED SPEC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9601200" y="4397869"/>
            <a:ext cx="7770114" cy="1262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+ design folded into a single quick-dev-spec composition — </a:t>
            </a:r>
            <a:r>
              <a:rPr lang="en-US" sz="2250" b="1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blocks </a:t>
            </a:r>
            <a:r>
              <a:rPr lang="en-US" sz="2250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just enough to unblock code authoring.</a:t>
            </a:r>
            <a:endParaRPr lang="en-US" sz="2250" dirty="0"/>
          </a:p>
        </p:txBody>
      </p:sp>
      <p:sp>
        <p:nvSpPr>
          <p:cNvPr id="25" name="Text 22"/>
          <p:cNvSpPr/>
          <p:nvPr/>
        </p:nvSpPr>
        <p:spPr>
          <a:xfrm>
            <a:off x="9601200" y="5888531"/>
            <a:ext cx="829818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SMALL-CHANGE TAX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9601200" y="6350494"/>
            <a:ext cx="7770114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19131F"/>
                </a:solidFill>
                <a:highlight>
                  <a:srgbClr val="EFF0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update-knowledge-base --scope=catalog-only </a:t>
            </a:r>
            <a:r>
              <a:rPr lang="en-US" sz="2250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only catalog fields and the change-tracker are touched. Bodies are not re-derived.</a:t>
            </a:r>
            <a:endParaRPr lang="en-US" sz="2250" dirty="0"/>
          </a:p>
        </p:txBody>
      </p:sp>
      <p:sp>
        <p:nvSpPr>
          <p:cNvPr id="27" name="Text 24"/>
          <p:cNvSpPr/>
          <p:nvPr/>
        </p:nvSpPr>
        <p:spPr>
          <a:xfrm>
            <a:off x="9601200" y="7817344"/>
            <a:ext cx="829818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 IT GROWS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9601200" y="8279306"/>
            <a:ext cx="7770114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i="1" dirty="0">
                <a:solidFill>
                  <a:srgbClr val="8E8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"If an item turns out to need richer elicitation, switch the composition — do not bolt blocks onto quick-dev-spec."</a:t>
            </a:r>
            <a:endParaRPr lang="en-US" sz="2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983456"/>
            <a:ext cx="2012826" cy="266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00671" y="952500"/>
            <a:ext cx="106836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20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4997633" y="952500"/>
            <a:ext cx="21795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34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5444192" y="952500"/>
            <a:ext cx="187088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KB Lifecycle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143000" y="1814513"/>
            <a:ext cx="176022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ONCE, NAVIGATE ON DEMAND, UPDATE ON EVERY SHIP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143000" y="2333625"/>
            <a:ext cx="17602200" cy="764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5400" kern="0" spc="-97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skills close the loop.</a:t>
            </a:r>
            <a:endParaRPr lang="en-US" sz="5400" dirty="0"/>
          </a:p>
        </p:txBody>
      </p:sp>
      <p:sp>
        <p:nvSpPr>
          <p:cNvPr id="8" name="Shape 5"/>
          <p:cNvSpPr/>
          <p:nvPr/>
        </p:nvSpPr>
        <p:spPr>
          <a:xfrm>
            <a:off x="1143000" y="3593902"/>
            <a:ext cx="3829050" cy="5122218"/>
          </a:xfrm>
          <a:prstGeom prst="rect">
            <a:avLst/>
          </a:prstGeom>
          <a:solidFill>
            <a:srgbClr val="FFFFFF"/>
          </a:solidFill>
          <a:ln w="9525">
            <a:solidFill>
              <a:srgbClr val="1913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419225" y="3908227"/>
            <a:ext cx="360426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334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· principle 02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419225" y="4408289"/>
            <a:ext cx="3374898" cy="708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kern="0" spc="-24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Reverse Engineering docs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419225" y="5250210"/>
            <a:ext cx="3374898" cy="27277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Scaffolds READMEs, per-component leaves with mandatory frontmatter, </a:t>
            </a:r>
            <a:r>
              <a:rPr lang="en-US" sz="1800" dirty="0">
                <a:solidFill>
                  <a:srgbClr val="19131F"/>
                </a:solidFill>
                <a:highlight>
                  <a:srgbClr val="EFF0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graph.json</a:t>
            </a:r>
            <a:r>
              <a:rPr lang="en-US" sz="1800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800" dirty="0">
                <a:solidFill>
                  <a:srgbClr val="19131F"/>
                </a:solidFill>
                <a:highlight>
                  <a:srgbClr val="EFF0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ARCHITECTURE.md</a:t>
            </a:r>
            <a:r>
              <a:rPr lang="en-US" sz="1800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root </a:t>
            </a:r>
            <a:r>
              <a:rPr lang="en-US" sz="1800" dirty="0">
                <a:solidFill>
                  <a:srgbClr val="19131F"/>
                </a:solidFill>
                <a:highlight>
                  <a:srgbClr val="EFF0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NAVIGATE.md </a:t>
            </a:r>
            <a:r>
              <a:rPr lang="en-US" sz="1800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renamed from </a:t>
            </a:r>
            <a:r>
              <a:rPr lang="en-US" sz="1800" dirty="0">
                <a:solidFill>
                  <a:srgbClr val="19131F"/>
                </a:solidFill>
                <a:highlight>
                  <a:srgbClr val="EFF0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 </a:t>
            </a:r>
            <a:r>
              <a:rPr lang="en-US" sz="1800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1.5.1 (with fallback).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419225" y="8111282"/>
            <a:ext cx="360426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build-knowledge-base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200650" y="3593902"/>
            <a:ext cx="3829050" cy="5122218"/>
          </a:xfrm>
          <a:prstGeom prst="rect">
            <a:avLst/>
          </a:prstGeom>
          <a:solidFill>
            <a:srgbClr val="FFFFFF"/>
          </a:solidFill>
          <a:ln w="9525">
            <a:solidFill>
              <a:srgbClr val="1913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476875" y="3908227"/>
            <a:ext cx="360426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334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Navigate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476875" y="4408289"/>
            <a:ext cx="3604260" cy="373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kern="0" spc="-24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slice per feature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5476875" y="4914974"/>
            <a:ext cx="3374898" cy="1363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Selects the smallest component set needed for the current question. Reads via grep/glob over frontmatter.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476875" y="8111282"/>
            <a:ext cx="360426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navigate-knowledge-base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9258300" y="3593902"/>
            <a:ext cx="3829050" cy="5122218"/>
          </a:xfrm>
          <a:prstGeom prst="rect">
            <a:avLst/>
          </a:prstGeom>
          <a:solidFill>
            <a:srgbClr val="FFFFFF"/>
          </a:solidFill>
          <a:ln w="9525">
            <a:solidFill>
              <a:srgbClr val="1913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9534525" y="3908227"/>
            <a:ext cx="3374898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334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· principle 08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9534525" y="4736902"/>
            <a:ext cx="3374898" cy="708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kern="0" spc="-24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per-increment closing skill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9534525" y="5578822"/>
            <a:ext cx="3374898" cy="20362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Classifies the diff, re-derives only affected components, </a:t>
            </a:r>
            <a:r>
              <a:rPr lang="en-US" sz="1800" b="1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appends </a:t>
            </a:r>
            <a:r>
              <a:rPr lang="en-US" sz="1800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CHANGE-TRACKER row, regenerates </a:t>
            </a:r>
            <a:r>
              <a:rPr lang="en-US" sz="1800" dirty="0">
                <a:solidFill>
                  <a:srgbClr val="19131F"/>
                </a:solidFill>
                <a:highlight>
                  <a:srgbClr val="EFF0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graph.json </a:t>
            </a:r>
            <a:r>
              <a:rPr lang="en-US" sz="1800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edges incrementally. ADRs are never rewritten — superseded.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9534525" y="8111282"/>
            <a:ext cx="360426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update-knowledge-base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13315950" y="3593902"/>
            <a:ext cx="3829050" cy="5122218"/>
          </a:xfrm>
          <a:prstGeom prst="rect">
            <a:avLst/>
          </a:prstGeom>
          <a:solidFill>
            <a:srgbClr val="FFFFFF"/>
          </a:solidFill>
          <a:ln w="9525">
            <a:solidFill>
              <a:srgbClr val="1913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13592175" y="3908227"/>
            <a:ext cx="360426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334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3592175" y="4408289"/>
            <a:ext cx="3604260" cy="373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kern="0" spc="-24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 + coverage</a:t>
            </a:r>
            <a:endParaRPr lang="en-US" sz="2400" dirty="0"/>
          </a:p>
        </p:txBody>
      </p:sp>
      <p:sp>
        <p:nvSpPr>
          <p:cNvPr id="26" name="Text 23"/>
          <p:cNvSpPr/>
          <p:nvPr/>
        </p:nvSpPr>
        <p:spPr>
          <a:xfrm>
            <a:off x="13592175" y="4914974"/>
            <a:ext cx="3374898" cy="20743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19131F"/>
                </a:solidFill>
                <a:highlight>
                  <a:srgbClr val="EFF0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detect-knowledge-base-drift </a:t>
            </a:r>
            <a:r>
              <a:rPr lang="en-US" sz="1800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repos changed without KB updates. </a:t>
            </a:r>
            <a:r>
              <a:rPr lang="en-US" sz="1800" dirty="0">
                <a:solidFill>
                  <a:srgbClr val="19131F"/>
                </a:solidFill>
                <a:highlight>
                  <a:srgbClr val="EFF0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verify-knowledge-base-coverage </a:t>
            </a:r>
            <a:r>
              <a:rPr lang="en-US" sz="1800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ensures every artifact maps to ≥1 component.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13592175" y="7782669"/>
            <a:ext cx="3374898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detect-drift · verify-coverage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1157252" y="8999784"/>
            <a:ext cx="16002000" cy="1281113"/>
          </a:xfrm>
          <a:prstGeom prst="rect">
            <a:avLst/>
          </a:prstGeom>
          <a:solidFill>
            <a:srgbClr val="F5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1157252" y="8999784"/>
            <a:ext cx="38100" cy="1281113"/>
          </a:xfrm>
          <a:prstGeom prst="rect">
            <a:avLst/>
          </a:prstGeom>
          <a:solidFill>
            <a:srgbClr val="334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1500152" y="9228384"/>
            <a:ext cx="15352621" cy="862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19131F"/>
                </a:solidFill>
                <a:highlight>
                  <a:srgbClr val="EFF0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update-knowledge-base </a:t>
            </a:r>
            <a:r>
              <a:rPr lang="en-US" sz="2250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as the </a:t>
            </a:r>
            <a:r>
              <a:rPr lang="en-US" sz="2250" b="1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per-increment-closing-skill </a:t>
            </a:r>
            <a:r>
              <a:rPr lang="en-US" sz="2250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every execution stage — greenfield, brownfield, and quick-dev. The KB is never re-built from scratch after the initial pass.</a:t>
            </a:r>
            <a:endParaRPr lang="en-US" sz="2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983456"/>
            <a:ext cx="2012826" cy="266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00671" y="952500"/>
            <a:ext cx="106836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20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4997633" y="952500"/>
            <a:ext cx="21795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34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5444192" y="952500"/>
            <a:ext cx="187088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 Model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143000" y="1814513"/>
            <a:ext cx="176022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ADAPT A.I.D.E. WITHOUT FORKING IT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143000" y="2333625"/>
            <a:ext cx="17602200" cy="764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5400" kern="0" spc="-97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layers, six precedence steps.</a:t>
            </a:r>
            <a:endParaRPr lang="en-US" sz="5400" dirty="0"/>
          </a:p>
        </p:txBody>
      </p:sp>
      <p:sp>
        <p:nvSpPr>
          <p:cNvPr id="8" name="Shape 5"/>
          <p:cNvSpPr/>
          <p:nvPr/>
        </p:nvSpPr>
        <p:spPr>
          <a:xfrm>
            <a:off x="1143000" y="3593902"/>
            <a:ext cx="16002000" cy="1019175"/>
          </a:xfrm>
          <a:prstGeom prst="rect">
            <a:avLst/>
          </a:prstGeom>
          <a:solidFill>
            <a:srgbClr val="FFFFFF"/>
          </a:solidFill>
          <a:ln w="9525">
            <a:solidFill>
              <a:srgbClr val="E9E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381125" y="3939183"/>
            <a:ext cx="6477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34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2181225" y="3939183"/>
            <a:ext cx="523875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913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framework.toml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172325" y="3937769"/>
            <a:ext cx="7941945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8E8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Installer-managed, global, committed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4544675" y="3774877"/>
            <a:ext cx="23622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kern="0" spc="72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LOWEST PRECEDENCE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1143000" y="4689277"/>
            <a:ext cx="16002000" cy="693390"/>
          </a:xfrm>
          <a:prstGeom prst="rect">
            <a:avLst/>
          </a:prstGeom>
          <a:solidFill>
            <a:srgbClr val="FFFFFF"/>
          </a:solidFill>
          <a:ln w="9525">
            <a:solidFill>
              <a:srgbClr val="E9E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381125" y="4871665"/>
            <a:ext cx="6477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34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2181225" y="4871665"/>
            <a:ext cx="523875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913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framework.user.toml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172325" y="4870252"/>
            <a:ext cx="7941945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8E8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Personal, global, gitignored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4392275" y="4871665"/>
            <a:ext cx="25146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kern="0" spc="72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1143000" y="5458867"/>
            <a:ext cx="16002000" cy="693390"/>
          </a:xfrm>
          <a:prstGeom prst="rect">
            <a:avLst/>
          </a:prstGeom>
          <a:solidFill>
            <a:srgbClr val="FFFFFF"/>
          </a:solidFill>
          <a:ln w="9525">
            <a:solidFill>
              <a:srgbClr val="E9E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381125" y="5641256"/>
            <a:ext cx="6477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34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2181225" y="5641256"/>
            <a:ext cx="523875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913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project.toml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7172325" y="5639842"/>
            <a:ext cx="7941945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8E8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Team-edited, per-project, committed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4392275" y="5641256"/>
            <a:ext cx="25146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kern="0" spc="72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1143000" y="6228457"/>
            <a:ext cx="16002000" cy="693390"/>
          </a:xfrm>
          <a:prstGeom prst="rect">
            <a:avLst/>
          </a:prstGeom>
          <a:solidFill>
            <a:srgbClr val="FFFFFF"/>
          </a:solidFill>
          <a:ln w="9525">
            <a:solidFill>
              <a:srgbClr val="E9E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1381125" y="6410846"/>
            <a:ext cx="6477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34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L4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2181225" y="6410846"/>
            <a:ext cx="523875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913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project.user.toml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7172325" y="6409432"/>
            <a:ext cx="7941945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8E8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Personal, per-project, gitignored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14392275" y="6410846"/>
            <a:ext cx="25146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kern="0" spc="72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1143000" y="6998047"/>
            <a:ext cx="16002000" cy="693390"/>
          </a:xfrm>
          <a:prstGeom prst="rect">
            <a:avLst/>
          </a:prstGeom>
          <a:solidFill>
            <a:srgbClr val="FFFFFF"/>
          </a:solidFill>
          <a:ln w="9525">
            <a:solidFill>
              <a:srgbClr val="E9E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1381125" y="7180436"/>
            <a:ext cx="6477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34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L5a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2181225" y="7180436"/>
            <a:ext cx="523875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913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customizations/&lt;skill&gt;.toml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7172325" y="7179022"/>
            <a:ext cx="7941945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8E8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Team, per-skill, committed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14392275" y="7180436"/>
            <a:ext cx="25146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kern="0" spc="72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1800" dirty="0"/>
          </a:p>
        </p:txBody>
      </p:sp>
      <p:sp>
        <p:nvSpPr>
          <p:cNvPr id="33" name="Shape 30"/>
          <p:cNvSpPr/>
          <p:nvPr/>
        </p:nvSpPr>
        <p:spPr>
          <a:xfrm>
            <a:off x="1143000" y="7767637"/>
            <a:ext cx="16002000" cy="1019175"/>
          </a:xfrm>
          <a:prstGeom prst="rect">
            <a:avLst/>
          </a:prstGeom>
          <a:solidFill>
            <a:srgbClr val="FFFFFF"/>
          </a:solidFill>
          <a:ln w="9525">
            <a:solidFill>
              <a:srgbClr val="E9E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1381125" y="8112919"/>
            <a:ext cx="6477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34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L5b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2181225" y="8112919"/>
            <a:ext cx="523875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913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customizations/&lt;skill&gt;.user.toml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7172325" y="8111505"/>
            <a:ext cx="7941945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8E8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Personal, per-skill, gitignored</a:t>
            </a:r>
            <a:endParaRPr lang="en-US" sz="1800" dirty="0"/>
          </a:p>
        </p:txBody>
      </p:sp>
      <p:sp>
        <p:nvSpPr>
          <p:cNvPr id="37" name="Text 34"/>
          <p:cNvSpPr/>
          <p:nvPr/>
        </p:nvSpPr>
        <p:spPr>
          <a:xfrm>
            <a:off x="14544675" y="7948613"/>
            <a:ext cx="23622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kern="0" spc="72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HIGHEST PRECEDENCE</a:t>
            </a:r>
            <a:endParaRPr lang="en-US" sz="1800" dirty="0"/>
          </a:p>
        </p:txBody>
      </p:sp>
      <p:sp>
        <p:nvSpPr>
          <p:cNvPr id="38" name="Text 35"/>
          <p:cNvSpPr/>
          <p:nvPr/>
        </p:nvSpPr>
        <p:spPr>
          <a:xfrm>
            <a:off x="1143000" y="9167813"/>
            <a:ext cx="14716125" cy="862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8E8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layer is optional. A.I.D.E. runs on </a:t>
            </a:r>
            <a:r>
              <a:rPr lang="en-US" sz="2250" dirty="0">
                <a:solidFill>
                  <a:srgbClr val="19131F"/>
                </a:solidFill>
                <a:highlight>
                  <a:srgbClr val="EFF0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framework.toml </a:t>
            </a:r>
            <a:r>
              <a:rPr lang="en-US" sz="2250" dirty="0">
                <a:solidFill>
                  <a:srgbClr val="8E8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alone. Higher layers supply </a:t>
            </a:r>
            <a:r>
              <a:rPr lang="en-US" sz="2250" b="1" dirty="0">
                <a:solidFill>
                  <a:srgbClr val="8E8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refinements </a:t>
            </a:r>
            <a:r>
              <a:rPr lang="en-US" sz="2250" dirty="0">
                <a:solidFill>
                  <a:srgbClr val="8E8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never required values. Use the </a:t>
            </a:r>
            <a:r>
              <a:rPr lang="en-US" sz="2250" dirty="0">
                <a:solidFill>
                  <a:srgbClr val="19131F"/>
                </a:solidFill>
                <a:highlight>
                  <a:srgbClr val="EFF0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customize-framework </a:t>
            </a:r>
            <a:r>
              <a:rPr lang="en-US" sz="2250" dirty="0">
                <a:solidFill>
                  <a:srgbClr val="8E8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to handle customization.</a:t>
            </a:r>
            <a:endParaRPr lang="en-US" sz="2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983456"/>
            <a:ext cx="2012826" cy="266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708508" y="952500"/>
            <a:ext cx="106836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/ 20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4005471" y="952500"/>
            <a:ext cx="21795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34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4452029" y="952500"/>
            <a:ext cx="2962268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customize-framework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143000" y="1814513"/>
            <a:ext cx="176022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PRINCIPLE 03 · ELICIT BEFORE GENERATING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143000" y="2333625"/>
            <a:ext cx="17602200" cy="764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5400" kern="0" spc="-97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guided, five-phase elicitation.</a:t>
            </a:r>
            <a:endParaRPr lang="en-US" sz="5400" dirty="0"/>
          </a:p>
        </p:txBody>
      </p:sp>
      <p:sp>
        <p:nvSpPr>
          <p:cNvPr id="8" name="Shape 5"/>
          <p:cNvSpPr/>
          <p:nvPr/>
        </p:nvSpPr>
        <p:spPr>
          <a:xfrm>
            <a:off x="1143000" y="3593902"/>
            <a:ext cx="3771900" cy="3353693"/>
          </a:xfrm>
          <a:prstGeom prst="rect">
            <a:avLst/>
          </a:prstGeom>
          <a:solidFill>
            <a:srgbClr val="FFFFFF"/>
          </a:solidFill>
          <a:ln w="9525">
            <a:solidFill>
              <a:srgbClr val="E9E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495425" y="3946327"/>
            <a:ext cx="337375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01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495425" y="4446389"/>
            <a:ext cx="3373755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00" kern="0" spc="-27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scope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1495425" y="4994970"/>
            <a:ext cx="3159062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8E8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Framework-global, project-team, project-personal, or skill-specific.</a:t>
            </a:r>
            <a:endParaRPr lang="en-US" sz="2250" dirty="0"/>
          </a:p>
        </p:txBody>
      </p:sp>
      <p:sp>
        <p:nvSpPr>
          <p:cNvPr id="12" name="Shape 9"/>
          <p:cNvSpPr/>
          <p:nvPr/>
        </p:nvSpPr>
        <p:spPr>
          <a:xfrm>
            <a:off x="5219700" y="3593902"/>
            <a:ext cx="3771900" cy="3353693"/>
          </a:xfrm>
          <a:prstGeom prst="rect">
            <a:avLst/>
          </a:prstGeom>
          <a:solidFill>
            <a:srgbClr val="FFFFFF"/>
          </a:solidFill>
          <a:ln w="9525">
            <a:solidFill>
              <a:srgbClr val="E9E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572125" y="3946327"/>
            <a:ext cx="337375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02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572125" y="4446389"/>
            <a:ext cx="3373755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00" kern="0" spc="-27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target</a:t>
            </a:r>
            <a:endParaRPr lang="en-US" sz="2700" dirty="0"/>
          </a:p>
        </p:txBody>
      </p:sp>
      <p:sp>
        <p:nvSpPr>
          <p:cNvPr id="15" name="Text 12"/>
          <p:cNvSpPr/>
          <p:nvPr/>
        </p:nvSpPr>
        <p:spPr>
          <a:xfrm>
            <a:off x="5572125" y="4994970"/>
            <a:ext cx="3159062" cy="1252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8E8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skill-specific, the skill </a:t>
            </a:r>
            <a:r>
              <a:rPr lang="en-US" sz="2250" dirty="0">
                <a:solidFill>
                  <a:srgbClr val="19131F"/>
                </a:solidFill>
                <a:highlight>
                  <a:srgbClr val="EFF0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</a:t>
            </a:r>
            <a:r>
              <a:rPr lang="en-US" sz="2250" dirty="0">
                <a:solidFill>
                  <a:srgbClr val="8E8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against the registry.</a:t>
            </a:r>
            <a:endParaRPr lang="en-US" sz="2250" dirty="0"/>
          </a:p>
        </p:txBody>
      </p:sp>
      <p:sp>
        <p:nvSpPr>
          <p:cNvPr id="16" name="Shape 13"/>
          <p:cNvSpPr/>
          <p:nvPr/>
        </p:nvSpPr>
        <p:spPr>
          <a:xfrm>
            <a:off x="9296400" y="3593902"/>
            <a:ext cx="3771900" cy="3353693"/>
          </a:xfrm>
          <a:prstGeom prst="rect">
            <a:avLst/>
          </a:prstGeom>
          <a:solidFill>
            <a:srgbClr val="FFFFFF"/>
          </a:solidFill>
          <a:ln w="9525">
            <a:solidFill>
              <a:srgbClr val="E9E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9648825" y="3946327"/>
            <a:ext cx="337375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03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9648825" y="4446389"/>
            <a:ext cx="3373755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00" kern="0" spc="-27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operation</a:t>
            </a:r>
            <a:endParaRPr lang="en-US" sz="2700" dirty="0"/>
          </a:p>
        </p:txBody>
      </p:sp>
      <p:sp>
        <p:nvSpPr>
          <p:cNvPr id="19" name="Text 16"/>
          <p:cNvSpPr/>
          <p:nvPr/>
        </p:nvSpPr>
        <p:spPr>
          <a:xfrm>
            <a:off x="9648825" y="4994970"/>
            <a:ext cx="3159062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8E8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Override, append, replace, suppress, or recursive-merge.</a:t>
            </a:r>
            <a:endParaRPr lang="en-US" sz="2250" dirty="0"/>
          </a:p>
        </p:txBody>
      </p:sp>
      <p:sp>
        <p:nvSpPr>
          <p:cNvPr id="20" name="Shape 17"/>
          <p:cNvSpPr/>
          <p:nvPr/>
        </p:nvSpPr>
        <p:spPr>
          <a:xfrm>
            <a:off x="13373100" y="3593902"/>
            <a:ext cx="3771900" cy="3353693"/>
          </a:xfrm>
          <a:prstGeom prst="rect">
            <a:avLst/>
          </a:prstGeom>
          <a:solidFill>
            <a:srgbClr val="FFFFFF"/>
          </a:solidFill>
          <a:ln w="9525">
            <a:solidFill>
              <a:srgbClr val="E9E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13725525" y="3946327"/>
            <a:ext cx="337375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04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3725525" y="4446389"/>
            <a:ext cx="3373755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00" kern="0" spc="-27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 override</a:t>
            </a:r>
            <a:endParaRPr lang="en-US" sz="2700" dirty="0"/>
          </a:p>
        </p:txBody>
      </p:sp>
      <p:sp>
        <p:nvSpPr>
          <p:cNvPr id="23" name="Text 20"/>
          <p:cNvSpPr/>
          <p:nvPr/>
        </p:nvSpPr>
        <p:spPr>
          <a:xfrm>
            <a:off x="13725525" y="4994970"/>
            <a:ext cx="3159062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8E8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the rendered TOML </a:t>
            </a:r>
            <a:r>
              <a:rPr lang="en-US" sz="2250" i="1" dirty="0">
                <a:solidFill>
                  <a:srgbClr val="8E8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</a:t>
            </a:r>
            <a:r>
              <a:rPr lang="en-US" sz="2250" dirty="0">
                <a:solidFill>
                  <a:srgbClr val="8E8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predicted merged result.</a:t>
            </a:r>
            <a:endParaRPr lang="en-US" sz="2250" dirty="0"/>
          </a:p>
        </p:txBody>
      </p:sp>
      <p:sp>
        <p:nvSpPr>
          <p:cNvPr id="24" name="Shape 21"/>
          <p:cNvSpPr/>
          <p:nvPr/>
        </p:nvSpPr>
        <p:spPr>
          <a:xfrm>
            <a:off x="1143000" y="7404795"/>
            <a:ext cx="7696200" cy="2553593"/>
          </a:xfrm>
          <a:prstGeom prst="rect">
            <a:avLst/>
          </a:prstGeom>
          <a:solidFill>
            <a:srgbClr val="F5F4F2"/>
          </a:solidFill>
          <a:ln w="9525">
            <a:solidFill>
              <a:srgbClr val="D8D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1495425" y="7757220"/>
            <a:ext cx="769048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05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1495425" y="8257282"/>
            <a:ext cx="7690485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00" kern="0" spc="-27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merge</a:t>
            </a:r>
            <a:endParaRPr lang="en-US" sz="2700" dirty="0"/>
          </a:p>
        </p:txBody>
      </p:sp>
      <p:sp>
        <p:nvSpPr>
          <p:cNvPr id="27" name="Text 24"/>
          <p:cNvSpPr/>
          <p:nvPr/>
        </p:nvSpPr>
        <p:spPr>
          <a:xfrm>
            <a:off x="1495425" y="8805863"/>
            <a:ext cx="7201091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8E8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file back from disk, simulate the merge against lower layers, show the user what now applies.</a:t>
            </a:r>
            <a:endParaRPr lang="en-US" sz="2250" dirty="0"/>
          </a:p>
        </p:txBody>
      </p:sp>
      <p:sp>
        <p:nvSpPr>
          <p:cNvPr id="28" name="Shape 25"/>
          <p:cNvSpPr/>
          <p:nvPr/>
        </p:nvSpPr>
        <p:spPr>
          <a:xfrm>
            <a:off x="9448800" y="7840266"/>
            <a:ext cx="7696200" cy="2118122"/>
          </a:xfrm>
          <a:prstGeom prst="roundRect">
            <a:avLst>
              <a:gd name="adj" fmla="val 3598"/>
            </a:avLst>
          </a:prstGeom>
          <a:solidFill>
            <a:srgbClr val="19131F"/>
          </a:solidFill>
          <a:ln/>
          <a:effectLst>
            <a:outerShdw blurRad="228600" dist="57150" dir="5400000" algn="bl" rotWithShape="0">
              <a:srgbClr val="19131F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9745206" y="8030865"/>
            <a:ext cx="7241286" cy="173831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 lnSpcReduction="10000"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1800" dirty="0">
                <a:solidFill>
                  <a:srgbClr val="FFFFFF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Drop a framework-shipped default </a:t>
            </a:r>
          </a:p>
          <a:p>
            <a:pPr marL="0" indent="0" algn="l">
              <a:lnSpc>
                <a:spcPct val="165000"/>
              </a:lnSpc>
              <a:buNone/>
            </a:pPr>
            <a:r>
              <a:rPr lang="en-US" sz="1800" dirty="0">
                <a:solidFill>
                  <a:srgbClr val="FFFFFF"/>
                </a:solidFill>
                <a:highlight>
                  <a:srgbClr val="19131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</a:t>
            </a:r>
            <a:r>
              <a:rPr lang="en-US" sz="1800" dirty="0">
                <a:solidFill>
                  <a:srgbClr val="C89F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required_sections</a:t>
            </a:r>
            <a:r>
              <a:rPr lang="en-US" sz="1800" dirty="0">
                <a:solidFill>
                  <a:srgbClr val="FFFFFF"/>
                </a:solidFill>
                <a:highlight>
                  <a:srgbClr val="19131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]] </a:t>
            </a:r>
          </a:p>
          <a:p>
            <a:pPr marL="0" indent="0" algn="l">
              <a:lnSpc>
                <a:spcPct val="165000"/>
              </a:lnSpc>
              <a:buNone/>
            </a:pPr>
            <a:r>
              <a:rPr lang="en-US" sz="1800" dirty="0">
                <a:solidFill>
                  <a:srgbClr val="C89F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</a:t>
            </a:r>
            <a:r>
              <a:rPr lang="en-US" sz="1800" dirty="0">
                <a:solidFill>
                  <a:srgbClr val="FFFFFF"/>
                </a:solidFill>
                <a:highlight>
                  <a:srgbClr val="19131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800" dirty="0">
                <a:solidFill>
                  <a:srgbClr val="D0DF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"competitive-positioning" </a:t>
            </a:r>
          </a:p>
          <a:p>
            <a:pPr marL="0" indent="0" algn="l">
              <a:lnSpc>
                <a:spcPct val="165000"/>
              </a:lnSpc>
              <a:buNone/>
            </a:pPr>
            <a:r>
              <a:rPr lang="en-US" sz="1800" dirty="0">
                <a:solidFill>
                  <a:srgbClr val="C89F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_suppress</a:t>
            </a:r>
            <a:r>
              <a:rPr lang="en-US" sz="1800" dirty="0">
                <a:solidFill>
                  <a:srgbClr val="FFFFFF"/>
                </a:solidFill>
                <a:highlight>
                  <a:srgbClr val="19131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983456"/>
            <a:ext cx="2012826" cy="266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984114" y="952500"/>
            <a:ext cx="106836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/ 20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5281077" y="952500"/>
            <a:ext cx="21795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34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5727635" y="952500"/>
            <a:ext cx="1559101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Multi-Repo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143000" y="1814513"/>
            <a:ext cx="176022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</a:t>
            </a:r>
            <a:r>
              <a:rPr lang="en-US" sz="1800" kern="0" spc="144" dirty="0">
                <a:solidFill>
                  <a:srgbClr val="19131F"/>
                </a:solidFill>
                <a:highlight>
                  <a:srgbClr val="EFF0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PROJECT.TOML </a:t>
            </a:r>
            <a:r>
              <a:rPr lang="en-US" sz="1800" kern="0" spc="144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N SOURCE REPOS, M ARTIFACT DIRECTORIES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143000" y="2333625"/>
            <a:ext cx="17602200" cy="764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5400" kern="0" spc="-97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opinionated about “everything in one place”.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1143000" y="3224528"/>
            <a:ext cx="846582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REPOS · [[PROJECT.REPOS]]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143000" y="3800790"/>
            <a:ext cx="7696200" cy="1426815"/>
          </a:xfrm>
          <a:prstGeom prst="rect">
            <a:avLst/>
          </a:prstGeom>
          <a:solidFill>
            <a:srgbClr val="FFFFFF"/>
          </a:solidFill>
          <a:ln w="9525">
            <a:solidFill>
              <a:srgbClr val="1913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381125" y="3981765"/>
            <a:ext cx="794194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334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 · API PRIMARY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381125" y="4367528"/>
            <a:ext cx="7941945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api-orders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381125" y="4718018"/>
            <a:ext cx="794194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../api-orders · node-typescript-nest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1143000" y="5399055"/>
            <a:ext cx="7696200" cy="1426815"/>
          </a:xfrm>
          <a:prstGeom prst="rect">
            <a:avLst/>
          </a:prstGeom>
          <a:solidFill>
            <a:srgbClr val="FFFFFF"/>
          </a:solidFill>
          <a:ln w="9525">
            <a:solidFill>
              <a:srgbClr val="1913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381125" y="5580030"/>
            <a:ext cx="794194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334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 · API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381125" y="5965793"/>
            <a:ext cx="7941945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api-billing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1381125" y="6316283"/>
            <a:ext cx="794194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../api-billing · dotnet-8-aspnet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1143000" y="6997321"/>
            <a:ext cx="7696200" cy="1426815"/>
          </a:xfrm>
          <a:prstGeom prst="rect">
            <a:avLst/>
          </a:prstGeom>
          <a:solidFill>
            <a:srgbClr val="FFFFFF"/>
          </a:solidFill>
          <a:ln w="9525">
            <a:solidFill>
              <a:srgbClr val="1913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381125" y="7178296"/>
            <a:ext cx="794194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334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 · UI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381125" y="7564058"/>
            <a:ext cx="7941945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web-portal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1381125" y="7914548"/>
            <a:ext cx="794194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../web-portal · react-vite-typescript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1143000" y="8595586"/>
            <a:ext cx="7696200" cy="1426815"/>
          </a:xfrm>
          <a:prstGeom prst="rect">
            <a:avLst/>
          </a:prstGeom>
          <a:solidFill>
            <a:srgbClr val="F5F4F2"/>
          </a:solidFill>
          <a:ln w="9525">
            <a:solidFill>
              <a:srgbClr val="19131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1381125" y="8776561"/>
            <a:ext cx="794194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334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[PROJECT.PATHS]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381125" y="9162323"/>
            <a:ext cx="7941945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../knowledge-base-repo</a:t>
            </a:r>
            <a:endParaRPr lang="en-US" sz="2100" dirty="0"/>
          </a:p>
        </p:txBody>
      </p:sp>
      <p:sp>
        <p:nvSpPr>
          <p:cNvPr id="24" name="Text 21"/>
          <p:cNvSpPr/>
          <p:nvPr/>
        </p:nvSpPr>
        <p:spPr>
          <a:xfrm>
            <a:off x="1381125" y="9512814"/>
            <a:ext cx="794194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central KB, sibling to all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9448800" y="3224528"/>
            <a:ext cx="846582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ARTIFACT DESTINATIONS · PER-STAGE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9448800" y="3800790"/>
            <a:ext cx="7696200" cy="1426815"/>
          </a:xfrm>
          <a:prstGeom prst="rect">
            <a:avLst/>
          </a:prstGeom>
          <a:solidFill>
            <a:srgbClr val="FFFFFF"/>
          </a:solidFill>
          <a:ln w="9525">
            <a:solidFill>
              <a:srgbClr val="1913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9686925" y="3981765"/>
            <a:ext cx="794194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334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[STAGES.REQUIREMENTS]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9686925" y="4367528"/>
            <a:ext cx="7941945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../ba-repo</a:t>
            </a:r>
            <a:endParaRPr lang="en-US" sz="2100" dirty="0"/>
          </a:p>
        </p:txBody>
      </p:sp>
      <p:sp>
        <p:nvSpPr>
          <p:cNvPr id="29" name="Text 26"/>
          <p:cNvSpPr/>
          <p:nvPr/>
        </p:nvSpPr>
        <p:spPr>
          <a:xfrm>
            <a:off x="9686925" y="4718018"/>
            <a:ext cx="794194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write_role = BA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9448800" y="5399055"/>
            <a:ext cx="7696200" cy="1426815"/>
          </a:xfrm>
          <a:prstGeom prst="rect">
            <a:avLst/>
          </a:prstGeom>
          <a:solidFill>
            <a:srgbClr val="FFFFFF"/>
          </a:solidFill>
          <a:ln w="9525">
            <a:solidFill>
              <a:srgbClr val="1913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9686925" y="5580030"/>
            <a:ext cx="794194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334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[STAGES.DESIGN]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9686925" y="5965793"/>
            <a:ext cx="7941945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../architect-repo</a:t>
            </a:r>
            <a:endParaRPr lang="en-US" sz="2100" dirty="0"/>
          </a:p>
        </p:txBody>
      </p:sp>
      <p:sp>
        <p:nvSpPr>
          <p:cNvPr id="33" name="Text 30"/>
          <p:cNvSpPr/>
          <p:nvPr/>
        </p:nvSpPr>
        <p:spPr>
          <a:xfrm>
            <a:off x="9686925" y="6316283"/>
            <a:ext cx="794194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write_role = Architect</a:t>
            </a:r>
            <a:endParaRPr lang="en-US" sz="1800" dirty="0"/>
          </a:p>
        </p:txBody>
      </p:sp>
      <p:sp>
        <p:nvSpPr>
          <p:cNvPr id="34" name="Shape 31"/>
          <p:cNvSpPr/>
          <p:nvPr/>
        </p:nvSpPr>
        <p:spPr>
          <a:xfrm>
            <a:off x="9448800" y="6997321"/>
            <a:ext cx="7696200" cy="1426815"/>
          </a:xfrm>
          <a:prstGeom prst="rect">
            <a:avLst/>
          </a:prstGeom>
          <a:solidFill>
            <a:srgbClr val="FFFFFF"/>
          </a:solidFill>
          <a:ln w="9525">
            <a:solidFill>
              <a:srgbClr val="1913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9686925" y="7178296"/>
            <a:ext cx="794194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334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[STAGES.PLANNING &amp; EXECUTION]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9686925" y="7564058"/>
            <a:ext cx="7941945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colocate_with_source</a:t>
            </a:r>
            <a:endParaRPr lang="en-US" sz="2100" dirty="0"/>
          </a:p>
        </p:txBody>
      </p:sp>
      <p:sp>
        <p:nvSpPr>
          <p:cNvPr id="37" name="Text 34"/>
          <p:cNvSpPr/>
          <p:nvPr/>
        </p:nvSpPr>
        <p:spPr>
          <a:xfrm>
            <a:off x="9686925" y="7914548"/>
            <a:ext cx="794194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write_role = Developer</a:t>
            </a:r>
            <a:endParaRPr lang="en-US" sz="1800" dirty="0"/>
          </a:p>
        </p:txBody>
      </p:sp>
      <p:sp>
        <p:nvSpPr>
          <p:cNvPr id="38" name="Text 35"/>
          <p:cNvSpPr/>
          <p:nvPr/>
        </p:nvSpPr>
        <p:spPr>
          <a:xfrm>
            <a:off x="9448800" y="8671786"/>
            <a:ext cx="7927086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Stages without these blocks fall back to legacy </a:t>
            </a:r>
            <a:r>
              <a:rPr lang="en-US" sz="1800" dirty="0">
                <a:solidFill>
                  <a:srgbClr val="19131F"/>
                </a:solidFill>
                <a:highlight>
                  <a:srgbClr val="EFF0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[project.paths]</a:t>
            </a:r>
            <a:r>
              <a:rPr lang="en-US" sz="1800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983456"/>
            <a:ext cx="2012826" cy="266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984114" y="952500"/>
            <a:ext cx="106836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/ 20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5281077" y="952500"/>
            <a:ext cx="21795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34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5727635" y="952500"/>
            <a:ext cx="1559101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Trade-Offs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143000" y="1814513"/>
            <a:ext cx="176022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WE DELIBERATELY GAVE UP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143000" y="2333625"/>
            <a:ext cx="14716125" cy="14918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5400" kern="0" spc="-97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Conformance to </a:t>
            </a:r>
            <a:r>
              <a:rPr lang="en-US" sz="5400" kern="0" spc="-97" dirty="0">
                <a:solidFill>
                  <a:srgbClr val="19131F"/>
                </a:solidFill>
                <a:highlight>
                  <a:srgbClr val="EFF0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agentskills.io </a:t>
            </a:r>
            <a:r>
              <a:rPr lang="en-US" sz="5400" kern="0" spc="-97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bought us zero-config — at a cost.</a:t>
            </a:r>
            <a:endParaRPr lang="en-US" sz="5400" dirty="0"/>
          </a:p>
        </p:txBody>
      </p:sp>
      <p:sp>
        <p:nvSpPr>
          <p:cNvPr id="8" name="Shape 5"/>
          <p:cNvSpPr/>
          <p:nvPr/>
        </p:nvSpPr>
        <p:spPr>
          <a:xfrm>
            <a:off x="1143000" y="4396978"/>
            <a:ext cx="7620000" cy="4937522"/>
          </a:xfrm>
          <a:prstGeom prst="rect">
            <a:avLst/>
          </a:prstGeom>
          <a:solidFill>
            <a:srgbClr val="F5F4F2"/>
          </a:solidFill>
          <a:ln w="9525">
            <a:solidFill>
              <a:srgbClr val="334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609725" y="4863703"/>
            <a:ext cx="735520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8E8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BENEFIT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609725" y="5363766"/>
            <a:ext cx="6887147" cy="960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300" kern="0" spc="-33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transpile. No build step. No install command.</a:t>
            </a:r>
            <a:endParaRPr lang="en-US" sz="3300" dirty="0"/>
          </a:p>
        </p:txBody>
      </p:sp>
      <p:sp>
        <p:nvSpPr>
          <p:cNvPr id="11" name="Text 8"/>
          <p:cNvSpPr/>
          <p:nvPr/>
        </p:nvSpPr>
        <p:spPr>
          <a:xfrm>
            <a:off x="1609725" y="6457206"/>
            <a:ext cx="6887147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 reads </a:t>
            </a:r>
            <a:r>
              <a:rPr lang="en-US" sz="2250" dirty="0">
                <a:solidFill>
                  <a:srgbClr val="19131F"/>
                </a:solidFill>
                <a:highlight>
                  <a:srgbClr val="EFF0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SKILL.md </a:t>
            </a:r>
            <a:r>
              <a:rPr lang="en-US" sz="2250" dirty="0">
                <a:solidFill>
                  <a:srgbClr val="19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directly (since 2025-12-18). Cursor does the same (since ~v2.3.x). Open the workspace, skills are live.</a:t>
            </a:r>
            <a:endParaRPr lang="en-US" sz="2250" dirty="0"/>
          </a:p>
        </p:txBody>
      </p:sp>
      <p:sp>
        <p:nvSpPr>
          <p:cNvPr id="12" name="Shape 9"/>
          <p:cNvSpPr/>
          <p:nvPr/>
        </p:nvSpPr>
        <p:spPr>
          <a:xfrm>
            <a:off x="9525000" y="4396978"/>
            <a:ext cx="7620000" cy="4937522"/>
          </a:xfrm>
          <a:prstGeom prst="rect">
            <a:avLst/>
          </a:prstGeom>
          <a:solidFill>
            <a:srgbClr val="19131F"/>
          </a:solidFill>
          <a:ln w="9525">
            <a:solidFill>
              <a:srgbClr val="1913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991725" y="4863703"/>
            <a:ext cx="735520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C89F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COST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9991725" y="5363766"/>
            <a:ext cx="6887147" cy="960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300" kern="0" spc="-3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is not a supported host today.</a:t>
            </a:r>
            <a:endParaRPr lang="en-US" sz="3300" dirty="0"/>
          </a:p>
        </p:txBody>
      </p:sp>
      <p:sp>
        <p:nvSpPr>
          <p:cNvPr id="15" name="Text 12"/>
          <p:cNvSpPr/>
          <p:nvPr/>
        </p:nvSpPr>
        <p:spPr>
          <a:xfrm>
            <a:off x="9991725" y="6457206"/>
            <a:ext cx="6887147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agentskills.io standard is what makes the discovery contract zero-config. The two hosts that have adopted it — Copilot and Cursor — are the supported surface.</a:t>
            </a:r>
            <a:endParaRPr lang="en-US" sz="2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9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983456"/>
            <a:ext cx="2012826" cy="266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275469" y="952500"/>
            <a:ext cx="106836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/ 20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4572431" y="952500"/>
            <a:ext cx="21795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34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5018990" y="952500"/>
            <a:ext cx="2338611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Getting Started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143000" y="1814513"/>
            <a:ext cx="176022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FFFFFF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 STEPS, NO INSTALL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143000" y="2447925"/>
            <a:ext cx="16482060" cy="2058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800" kern="0" spc="-19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 workspace. Type a goal. Ship.</a:t>
            </a:r>
            <a:endParaRPr lang="en-US" sz="7800" dirty="0"/>
          </a:p>
        </p:txBody>
      </p:sp>
      <p:sp>
        <p:nvSpPr>
          <p:cNvPr id="8" name="Text 5"/>
          <p:cNvSpPr/>
          <p:nvPr/>
        </p:nvSpPr>
        <p:spPr>
          <a:xfrm>
            <a:off x="1143000" y="5078313"/>
            <a:ext cx="5532120" cy="861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200" kern="0" spc="-216" dirty="0">
                <a:solidFill>
                  <a:srgbClr val="334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200" dirty="0"/>
          </a:p>
        </p:txBody>
      </p:sp>
      <p:sp>
        <p:nvSpPr>
          <p:cNvPr id="9" name="Text 6"/>
          <p:cNvSpPr/>
          <p:nvPr/>
        </p:nvSpPr>
        <p:spPr>
          <a:xfrm>
            <a:off x="1143000" y="6053658"/>
            <a:ext cx="5532120" cy="422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700" kern="0" spc="-3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in.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1143000" y="6551935"/>
            <a:ext cx="5180076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FFFFFF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</a:t>
            </a:r>
            <a:r>
              <a:rPr lang="en-US" sz="2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.agents/</a:t>
            </a:r>
            <a:r>
              <a:rPr lang="en-US" sz="2250" dirty="0">
                <a:solidFill>
                  <a:srgbClr val="FFFFFF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2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AGENTS.md</a:t>
            </a:r>
            <a:r>
              <a:rPr lang="en-US" sz="2250" dirty="0">
                <a:solidFill>
                  <a:srgbClr val="FFFFFF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2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config/</a:t>
            </a:r>
            <a:r>
              <a:rPr lang="en-US" sz="2250" dirty="0">
                <a:solidFill>
                  <a:srgbClr val="FFFFFF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2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templates/</a:t>
            </a:r>
            <a:r>
              <a:rPr lang="en-US" sz="2250" dirty="0">
                <a:solidFill>
                  <a:srgbClr val="FFFFFF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</a:t>
            </a:r>
            <a:r>
              <a:rPr lang="en-US" sz="2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references/ </a:t>
            </a:r>
            <a:r>
              <a:rPr lang="en-US" sz="2250" dirty="0">
                <a:solidFill>
                  <a:srgbClr val="FFFFFF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into your workspace.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6629400" y="5078313"/>
            <a:ext cx="5532120" cy="861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200" kern="0" spc="-216" dirty="0">
                <a:solidFill>
                  <a:srgbClr val="334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200" dirty="0"/>
          </a:p>
        </p:txBody>
      </p:sp>
      <p:sp>
        <p:nvSpPr>
          <p:cNvPr id="12" name="Text 9"/>
          <p:cNvSpPr/>
          <p:nvPr/>
        </p:nvSpPr>
        <p:spPr>
          <a:xfrm>
            <a:off x="6629400" y="6053658"/>
            <a:ext cx="5532120" cy="422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700" kern="0" spc="-3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in host.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6629400" y="6551935"/>
            <a:ext cx="5180076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FFFFFF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VSCode + GitHub Copilot, or Cursor. The default skill-discovery root wires up automatically.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12115800" y="5078313"/>
            <a:ext cx="5532120" cy="861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200" kern="0" spc="-216" dirty="0">
                <a:solidFill>
                  <a:srgbClr val="334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200" dirty="0"/>
          </a:p>
        </p:txBody>
      </p:sp>
      <p:sp>
        <p:nvSpPr>
          <p:cNvPr id="15" name="Text 12"/>
          <p:cNvSpPr/>
          <p:nvPr/>
        </p:nvSpPr>
        <p:spPr>
          <a:xfrm>
            <a:off x="12115800" y="6053658"/>
            <a:ext cx="5532120" cy="422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700" kern="0" spc="-3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Run.</a:t>
            </a:r>
            <a:endParaRPr lang="en-US" sz="2700" dirty="0"/>
          </a:p>
        </p:txBody>
      </p:sp>
      <p:sp>
        <p:nvSpPr>
          <p:cNvPr id="16" name="Text 13"/>
          <p:cNvSpPr/>
          <p:nvPr/>
        </p:nvSpPr>
        <p:spPr>
          <a:xfrm>
            <a:off x="12115800" y="6551935"/>
            <a:ext cx="5180076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FFFFFF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what you want and let </a:t>
            </a:r>
            <a:r>
              <a:rPr lang="en-US" sz="2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framework-navigator </a:t>
            </a:r>
            <a:r>
              <a:rPr lang="en-US" sz="2250" dirty="0">
                <a:solidFill>
                  <a:srgbClr val="FFFFFF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you to the right skill.</a:t>
            </a:r>
            <a:endParaRPr lang="en-US" sz="2250" dirty="0"/>
          </a:p>
        </p:txBody>
      </p:sp>
      <p:sp>
        <p:nvSpPr>
          <p:cNvPr id="17" name="Shape 14"/>
          <p:cNvSpPr/>
          <p:nvPr/>
        </p:nvSpPr>
        <p:spPr>
          <a:xfrm>
            <a:off x="1143000" y="8691563"/>
            <a:ext cx="160020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143000" y="9005888"/>
            <a:ext cx="2338611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A.I.D.E. </a:t>
            </a:r>
            <a:r>
              <a:rPr lang="en-US" sz="1800" dirty="0">
                <a:solidFill>
                  <a:srgbClr val="334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v1.5.1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1192247" y="9005888"/>
            <a:ext cx="6548028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 skills · 3 flows · 1 knowledge base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906</TotalTime>
  <Words>2462</Words>
  <Application>Microsoft Macintosh PowerPoint</Application>
  <PresentationFormat>Custom</PresentationFormat>
  <Paragraphs>407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Mike Moerman</cp:lastModifiedBy>
  <cp:revision>2</cp:revision>
  <dcterms:created xsi:type="dcterms:W3CDTF">2026-07-07T19:00:29Z</dcterms:created>
  <dcterms:modified xsi:type="dcterms:W3CDTF">2026-07-08T10:07:21Z</dcterms:modified>
</cp:coreProperties>
</file>